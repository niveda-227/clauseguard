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19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Ankan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SPEAK:</a:t>
            </a:r>
            <a:endParaRPr/>
          </a:p>
          <a:p>
            <a:pPr indent="0" lvl="0" marL="0" rtl="0" algn="l">
              <a:spcBef>
                <a:spcPts val="0"/>
              </a:spcBef>
              <a:spcAft>
                <a:spcPts val="0"/>
              </a:spcAft>
              <a:buNone/>
            </a:pPr>
            <a:r>
              <a:rPr lang="en-US"/>
              <a:t>We are ClauseGuard. We help students and app users find important clauses in English Terms of Service and verify the original words. Our product is a working local NLP tool. Today we will show what we built, what the model and four outside users actually tell us, what failed, and our plan to demo day.</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Ankan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SPEAK:</a:t>
            </a:r>
            <a:endParaRPr/>
          </a:p>
          <a:p>
            <a:pPr indent="0" lvl="0" marL="0" rtl="0" algn="l">
              <a:spcBef>
                <a:spcPts val="0"/>
              </a:spcBef>
              <a:spcAft>
                <a:spcPts val="0"/>
              </a:spcAft>
              <a:buNone/>
            </a:pPr>
            <a:r>
              <a:rPr lang="en-US"/>
              <a:t>Our user has a specific question, such as: can this service delete my photos without warning? Today they may read the entire document or search for a keyword, and still need to understand the passage. Our hypothesis is that source-linked flags can make that task easier. We are testing that hypothesis against manual reading. Our scope is eight contractual categories. The current model does not detect privacy or data-sharing practices, and we are not claiming an advantage over every existing ToS tool.</a:t>
            </a:r>
            <a:endParaRPr/>
          </a:p>
        </p:txBody>
      </p:sp>
      <p:sp>
        <p:nvSpPr>
          <p:cNvPr id="117" name="Google Shape;117;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Hemanth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SPEAK:</a:t>
            </a:r>
            <a:endParaRPr/>
          </a:p>
          <a:p>
            <a:pPr indent="0" lvl="0" marL="0" rtl="0" algn="l">
              <a:spcBef>
                <a:spcPts val="0"/>
              </a:spcBef>
              <a:spcAft>
                <a:spcPts val="0"/>
              </a:spcAft>
              <a:buNone/>
            </a:pPr>
            <a:r>
              <a:rPr lang="en-US"/>
              <a:t>This is an actual screenshot from an outside participant’s desktop session, not a mockup. The user loads or pastes text, clicks Analyze terms, and selects a result. Here, the liability clause is highlighted in the original document and repeated in the detail panel. The category explanation is fixed text, and the score is an uncalibrated model output, not a probability that the clause is legally risky. We also ship a command-line route and HTML export. The screenshot is enough for this midpoint talk; the final presentation will include a live or recorded demo.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3" name="Google Shape;143;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Hemanth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SPEAK:</a:t>
            </a:r>
            <a:endParaRPr/>
          </a:p>
          <a:p>
            <a:pPr indent="0" lvl="0" marL="0" rtl="0" algn="l">
              <a:spcBef>
                <a:spcPts val="0"/>
              </a:spcBef>
              <a:spcAft>
                <a:spcPts val="0"/>
              </a:spcAft>
              <a:buNone/>
            </a:pPr>
            <a:r>
              <a:rPr lang="en-US"/>
              <a:t>The system splits text into sentences while preserving character offsets, so we can link predictions back to the original passage. Our selected model combines word unigrams and bigrams with character n-grams, then uses one balanced logistic classifier per category. This is supervised NLP we train and evaluate ourselves. The official splits contain 5,532 training sentences, 2,275 validation sentences from different companies, and 1,607 reserved test sentences. Validation was used for model selection, so it is a development result. The test split remains untouched. The shipped model uses fixed thresholds above 0.5, and its fingerprint matches the evaluated artifact.</a:t>
            </a:r>
            <a:endParaRPr/>
          </a:p>
        </p:txBody>
      </p:sp>
      <p:sp>
        <p:nvSpPr>
          <p:cNvPr id="168" name="Google Shape;168;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Jayakrishna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SPEAK:</a:t>
            </a:r>
            <a:endParaRPr/>
          </a:p>
          <a:p>
            <a:pPr indent="0" lvl="0" marL="0" rtl="0" algn="l">
              <a:spcBef>
                <a:spcPts val="0"/>
              </a:spcBef>
              <a:spcAft>
                <a:spcPts val="0"/>
              </a:spcAft>
              <a:buNone/>
            </a:pPr>
            <a:r>
              <a:rPr lang="en-US"/>
              <a:t>The main model metric is macro-F1 across our eight target categories. It gives each category equal weight, which matters when most sentences have no target label. The unigram baseline scores 0.2551. Adding bigrams and class balancing reaches 0.6156; the shipped hybrid reaches 0.6333, an absolute gain of 0.3782 over baseline. The eight-category micro-F1 also improves. All variants were evaluated on the same validation sentences. These are three model comparisons, not three weeks of progress. The model does not win on every metric: exact match and nine-label micro-F1, which include the dominant no-category label, are slightly worse than baseline.</a:t>
            </a:r>
            <a:endParaRPr/>
          </a:p>
        </p:txBody>
      </p:sp>
      <p:sp>
        <p:nvSpPr>
          <p:cNvPr id="212" name="Google Shape;21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Jayakrishna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SPEAK:</a:t>
            </a:r>
            <a:endParaRPr/>
          </a:p>
          <a:p>
            <a:pPr indent="0" lvl="0" marL="0" rtl="0" algn="l">
              <a:spcBef>
                <a:spcPts val="0"/>
              </a:spcBef>
              <a:spcAft>
                <a:spcPts val="0"/>
              </a:spcAft>
              <a:buNone/>
            </a:pPr>
            <a:r>
              <a:rPr lang="en-US"/>
              <a:t>Here is a concrete failure from our fictional study document. The passage allows content removal without notice, but the product adds unilateral termination and unilateral change tags as well. That is over-tagging. Across validation, 195 of 398 predicted category tags are absent from the corresponding source annotations: about 49 percent. These are category tags, not the percentage of documents that are wrong. Arbitration is particularly weak, with F1 of about 0.323 on only nine positive validation examples. This makes reducing false positives our immediate priority. It also explains why users must inspect the original sentence rather than treat every tag as a finding.</a:t>
            </a:r>
            <a:endParaRPr/>
          </a:p>
        </p:txBody>
      </p:sp>
      <p:sp>
        <p:nvSpPr>
          <p:cNvPr id="235" name="Google Shape;235;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Niveda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SPEAK:</a:t>
            </a:r>
            <a:endParaRPr/>
          </a:p>
          <a:p>
            <a:pPr indent="0" lvl="0" marL="0" rtl="0" algn="l">
              <a:spcBef>
                <a:spcPts val="0"/>
              </a:spcBef>
              <a:spcAft>
                <a:spcPts val="0"/>
              </a:spcAft>
              <a:buNone/>
            </a:pPr>
            <a:r>
              <a:rPr lang="en-US"/>
              <a:t>Our north-star metric is correct completion: the right passage and its meaning within 180 seconds. Under the corrected protocol, four people outside our team completed one ClauseGuard task and one manual task each. Both conditions had four out of four successes. The observed median times were 51.7 seconds with ClauseGuard and 70.9 manually. We report those times descriptively: the two tasks differ in difficulty, and this convenience sample is too small to establish a speed benefit. Two people used the app on the over-tagged content-removal task; both answered correctly from the source. That is encouraging, but it does not show that wrong tags are harmless.</a:t>
            </a:r>
            <a:endParaRPr/>
          </a:p>
        </p:txBody>
      </p:sp>
      <p:sp>
        <p:nvSpPr>
          <p:cNvPr id="261" name="Google Shape;261;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Niveda</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SPEAK:</a:t>
            </a:r>
            <a:endParaRPr/>
          </a:p>
          <a:p>
            <a:pPr indent="0" lvl="0" marL="0" rtl="0" algn="l">
              <a:spcBef>
                <a:spcPts val="0"/>
              </a:spcBef>
              <a:spcAft>
                <a:spcPts val="0"/>
              </a:spcAft>
              <a:buNone/>
            </a:pPr>
            <a:r>
              <a:rPr lang="en-US"/>
              <a:t>Our first pilot did not produce a usable product measurement. The clock included answer typing, and the participant answered a different task. We replaced that protocol: users restate the prompt, and timing stops when they say the answer. Engineering also fixed stale details left on screen after loading or editing a document. In the three new sessions, every app user opened a result and answered from the source; none used the category filter. That tells us where to focus the interface. Our boundaries remain explicit: local processing, no default input logging, licensed data with attribution, English and European annotation limits, and no implication that an unflagged document is safe.</a:t>
            </a:r>
            <a:endParaRPr/>
          </a:p>
        </p:txBody>
      </p:sp>
      <p:sp>
        <p:nvSpPr>
          <p:cNvPr id="291" name="Google Shape;291;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Ameer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SPEAK:</a:t>
            </a:r>
            <a:endParaRPr/>
          </a:p>
          <a:p>
            <a:pPr indent="0" lvl="0" marL="0" rtl="0" algn="l">
              <a:spcBef>
                <a:spcPts val="0"/>
              </a:spcBef>
              <a:spcAft>
                <a:spcPts val="0"/>
              </a:spcAft>
              <a:buNone/>
            </a:pPr>
            <a:r>
              <a:rPr lang="en-US"/>
              <a:t>Our next model change is supported by a development experiment, but it is not in the app yet. We tested category-specific thresholds by leaving one validation company out: tune on the other nine, score the held-out company, and repeat. Macro-F1 rises from 0.6333 to 0.6768 while category tags per hundred sentences fall from 17.5 to 11.0. We use that estimate rather than the more optimistic score from tuning and scoring on the same data. Our next release will integrate the parameters, verify the product, and repeat user tasks. Arbitration thresholds vary substantially across folds, so this is not a complete fix or a final-test claim.</a:t>
            </a:r>
            <a:endParaRPr/>
          </a:p>
        </p:txBody>
      </p:sp>
      <p:sp>
        <p:nvSpPr>
          <p:cNvPr id="317" name="Google Shape;317;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5" name="Google Shape;345;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Ameer</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SPEAK:</a:t>
            </a:r>
            <a:endParaRPr/>
          </a:p>
          <a:p>
            <a:pPr indent="0" lvl="0" marL="0" rtl="0" algn="l">
              <a:spcBef>
                <a:spcPts val="0"/>
              </a:spcBef>
              <a:spcAft>
                <a:spcPts val="0"/>
              </a:spcAft>
              <a:buNone/>
            </a:pPr>
            <a:r>
              <a:rPr lang="en-US"/>
              <a:t>Our pre-registered midpoint rule says persevere: the model beats its baseline, we have four outside participants, task success matches manual reading, and nobody failed the over-tagged app task. That is a heuristic decision to keep building, not proof of value. We will ship thresholds in Session 07, expand user testing and check misunderstanding of no flags, then evaluate fresh documents and ablations. We will freeze the model before one final test evaluation and prepare the December 1 submission and demo. If flags mislead readers or task success falls, we will change the interface or reconsider the job. Our goal remains: find the clause, verify the words.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Q&amp;A — NOT PART OF THE TIMED SCRIPT:</a:t>
            </a:r>
            <a:endParaRPr/>
          </a:p>
          <a:p>
            <a:pPr indent="0" lvl="0" marL="0" rtl="0" algn="l">
              <a:spcBef>
                <a:spcPts val="0"/>
              </a:spcBef>
              <a:spcAft>
                <a:spcPts val="0"/>
              </a:spcAft>
              <a:buNone/>
            </a:pPr>
            <a:r>
              <a:rPr b="1" lang="en-US"/>
              <a:t>Why persevere with 4 users</a:t>
            </a:r>
            <a:r>
              <a:rPr lang="en-US"/>
              <a:t>? The pre-registered minimum was 3; it is a pragmatic gate, not statistical evidence. The decision document still has an unfinished decision paragraph, but scripts/midpoint_facts.py computes PERSEVERE from the current committed records.</a:t>
            </a:r>
            <a:endParaRPr/>
          </a:p>
          <a:p>
            <a:pPr indent="0" lvl="0" marL="0" rtl="0" algn="l">
              <a:spcBef>
                <a:spcPts val="0"/>
              </a:spcBef>
              <a:spcAft>
                <a:spcPts val="0"/>
              </a:spcAft>
              <a:buNone/>
            </a:pPr>
            <a:r>
              <a:rPr b="1" lang="en-US"/>
              <a:t>What triggers a pivot</a:t>
            </a:r>
            <a:r>
              <a:rPr lang="en-US"/>
              <a:t>? Failure of the model gate (+0.10 macro-F1 vs baseline and same artifact), or with enough users, app success more than 25 percentage points below manual. Smaller success deficits or a C1 failure imply persevere with change.</a:t>
            </a:r>
            <a:endParaRPr/>
          </a:p>
          <a:p>
            <a:pPr indent="0" lvl="0" marL="0" rtl="0" algn="l">
              <a:spcBef>
                <a:spcPts val="0"/>
              </a:spcBef>
              <a:spcAft>
                <a:spcPts val="0"/>
              </a:spcAft>
              <a:buNone/>
            </a:pPr>
            <a:r>
              <a:rPr b="1" lang="en-US"/>
              <a:t>Does ClauseGuard provide legal advice</a:t>
            </a:r>
            <a:r>
              <a:rPr lang="en-US"/>
              <a:t>? No. It returns review categories and exact text; it does not determine enforceability or safety.</a:t>
            </a:r>
            <a:endParaRPr/>
          </a:p>
          <a:p>
            <a:pPr indent="0" lvl="0" marL="0" rtl="0" algn="l">
              <a:spcBef>
                <a:spcPts val="0"/>
              </a:spcBef>
              <a:spcAft>
                <a:spcPts val="0"/>
              </a:spcAft>
              <a:buNone/>
            </a:pPr>
            <a:r>
              <a:rPr b="1" lang="en-US"/>
              <a:t>Is it free to serve</a:t>
            </a:r>
            <a:r>
              <a:rPr lang="en-US"/>
              <a:t>? No API charge at runtime. The team-laptop check measured 0.054 ms/sentence on a 1,100-sentence synthetic batch; that excludes model load (0.101 s), GUI work, user setup, hardware and electricity.</a:t>
            </a:r>
            <a:endParaRPr/>
          </a:p>
          <a:p>
            <a:pPr indent="0" lvl="0" marL="0" rtl="0" algn="l">
              <a:spcBef>
                <a:spcPts val="0"/>
              </a:spcBef>
              <a:spcAft>
                <a:spcPts val="0"/>
              </a:spcAft>
              <a:buNone/>
            </a:pPr>
            <a:r>
              <a:rPr b="1" lang="en-US"/>
              <a:t>How do you distribute it</a:t>
            </a:r>
            <a:r>
              <a:rPr lang="en-US"/>
              <a:t>? Local app and HTML workflow shared with classmates/student groups. Stranger installation and onboarding need testing; no production web deployment is claimed.</a:t>
            </a:r>
            <a:endParaRPr/>
          </a:p>
          <a:p>
            <a:pPr indent="0" lvl="0" marL="0" rtl="0" algn="l">
              <a:spcBef>
                <a:spcPts val="0"/>
              </a:spcBef>
              <a:spcAft>
                <a:spcPts val="0"/>
              </a:spcAft>
              <a:buNone/>
            </a:pPr>
            <a:r>
              <a:rPr b="1" lang="en-US"/>
              <a:t>How do you handle privacy and rights</a:t>
            </a:r>
            <a:r>
              <a:rPr lang="en-US"/>
              <a:t>? No runtime API calls or default document logging; exports contain user-supplied text. Dataset distribution lists CC BY 4.0; preserve attribution and check additional source rights. English data reflects a European consumer-law annotation context.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46" name="Google Shape;346;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A35"/>
        </a:solidFill>
      </p:bgPr>
    </p:bg>
    <p:spTree>
      <p:nvGrpSpPr>
        <p:cNvPr id="84" name="Shape 84"/>
        <p:cNvGrpSpPr/>
        <p:nvPr/>
      </p:nvGrpSpPr>
      <p:grpSpPr>
        <a:xfrm>
          <a:off x="0" y="0"/>
          <a:ext cx="0" cy="0"/>
          <a:chOff x="0" y="0"/>
          <a:chExt cx="0" cy="0"/>
        </a:xfrm>
      </p:grpSpPr>
      <p:sp>
        <p:nvSpPr>
          <p:cNvPr id="85" name="Google Shape;85;p13"/>
          <p:cNvSpPr txBox="1"/>
          <p:nvPr/>
        </p:nvSpPr>
        <p:spPr>
          <a:xfrm>
            <a:off x="502920" y="265176"/>
            <a:ext cx="8229600" cy="21945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CBE8DE"/>
                </a:solidFill>
                <a:latin typeface="Arial"/>
                <a:ea typeface="Arial"/>
                <a:cs typeface="Arial"/>
                <a:sym typeface="Arial"/>
              </a:rPr>
              <a:t>DATA / MSML 641 • SESSION 06 • OCTOBER 6, 2026</a:t>
            </a:r>
            <a:endParaRPr/>
          </a:p>
        </p:txBody>
      </p:sp>
      <p:sp>
        <p:nvSpPr>
          <p:cNvPr id="86" name="Google Shape;86;p13"/>
          <p:cNvSpPr txBox="1"/>
          <p:nvPr/>
        </p:nvSpPr>
        <p:spPr>
          <a:xfrm>
            <a:off x="502920" y="713232"/>
            <a:ext cx="1115568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00" u="none" cap="none" strike="noStrike">
                <a:solidFill>
                  <a:srgbClr val="FFFFFF"/>
                </a:solidFill>
                <a:latin typeface="Arial"/>
                <a:ea typeface="Arial"/>
                <a:cs typeface="Arial"/>
                <a:sym typeface="Arial"/>
              </a:rPr>
              <a:t>ClauseGuard</a:t>
            </a:r>
            <a:endParaRPr/>
          </a:p>
        </p:txBody>
      </p:sp>
      <p:sp>
        <p:nvSpPr>
          <p:cNvPr id="87" name="Google Shape;87;p13"/>
          <p:cNvSpPr/>
          <p:nvPr/>
        </p:nvSpPr>
        <p:spPr>
          <a:xfrm>
            <a:off x="502920" y="6409944"/>
            <a:ext cx="11155680" cy="10972"/>
          </a:xfrm>
          <a:prstGeom prst="rect">
            <a:avLst/>
          </a:prstGeom>
          <a:solidFill>
            <a:srgbClr val="3A515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txBox="1"/>
          <p:nvPr/>
        </p:nvSpPr>
        <p:spPr>
          <a:xfrm>
            <a:off x="502920" y="6528816"/>
            <a:ext cx="274320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CBE8DE"/>
                </a:solidFill>
                <a:latin typeface="Arial"/>
                <a:ea typeface="Arial"/>
                <a:cs typeface="Arial"/>
                <a:sym typeface="Arial"/>
              </a:rPr>
              <a:t>CLAUSEGUARD  /  MID-SEMESTER</a:t>
            </a:r>
            <a:endParaRPr/>
          </a:p>
        </p:txBody>
      </p:sp>
      <p:sp>
        <p:nvSpPr>
          <p:cNvPr id="89" name="Google Shape;89;p13"/>
          <p:cNvSpPr txBox="1"/>
          <p:nvPr/>
        </p:nvSpPr>
        <p:spPr>
          <a:xfrm>
            <a:off x="11292840" y="6501384"/>
            <a:ext cx="365760" cy="21945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000" u="none" cap="none" strike="noStrike">
                <a:solidFill>
                  <a:srgbClr val="CBE8DE"/>
                </a:solidFill>
                <a:latin typeface="Arial"/>
                <a:ea typeface="Arial"/>
                <a:cs typeface="Arial"/>
                <a:sym typeface="Arial"/>
              </a:rPr>
              <a:t>01</a:t>
            </a:r>
            <a:endParaRPr/>
          </a:p>
        </p:txBody>
      </p:sp>
      <p:sp>
        <p:nvSpPr>
          <p:cNvPr id="90" name="Google Shape;90;p13"/>
          <p:cNvSpPr txBox="1"/>
          <p:nvPr/>
        </p:nvSpPr>
        <p:spPr>
          <a:xfrm>
            <a:off x="530352" y="1545336"/>
            <a:ext cx="6766560" cy="1280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300" u="none" cap="none" strike="noStrike">
                <a:solidFill>
                  <a:srgbClr val="FFFFFF"/>
                </a:solidFill>
                <a:latin typeface="Arial"/>
                <a:ea typeface="Arial"/>
                <a:cs typeface="Arial"/>
                <a:sym typeface="Arial"/>
              </a:rPr>
              <a:t>Find the clause.</a:t>
            </a:r>
            <a:endParaRPr/>
          </a:p>
          <a:p>
            <a:pPr indent="0" lvl="0" marL="0" marR="0" rtl="0" algn="l">
              <a:spcBef>
                <a:spcPts val="600"/>
              </a:spcBef>
              <a:spcAft>
                <a:spcPts val="0"/>
              </a:spcAft>
              <a:buNone/>
            </a:pPr>
            <a:r>
              <a:rPr b="1" i="0" lang="en-US" sz="4300" u="none" cap="none" strike="noStrike">
                <a:solidFill>
                  <a:srgbClr val="FFFFFF"/>
                </a:solidFill>
                <a:latin typeface="Arial"/>
                <a:ea typeface="Arial"/>
                <a:cs typeface="Arial"/>
                <a:sym typeface="Arial"/>
              </a:rPr>
              <a:t>Verify the words.</a:t>
            </a:r>
            <a:endParaRPr/>
          </a:p>
        </p:txBody>
      </p:sp>
      <p:sp>
        <p:nvSpPr>
          <p:cNvPr id="91" name="Google Shape;91;p13"/>
          <p:cNvSpPr txBox="1"/>
          <p:nvPr/>
        </p:nvSpPr>
        <p:spPr>
          <a:xfrm>
            <a:off x="530352" y="3090672"/>
            <a:ext cx="6309360" cy="960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300" u="none" cap="none" strike="noStrike">
                <a:solidFill>
                  <a:srgbClr val="CBE8DE"/>
                </a:solidFill>
                <a:latin typeface="Arial"/>
                <a:ea typeface="Arial"/>
                <a:cs typeface="Arial"/>
                <a:sym typeface="Arial"/>
              </a:rPr>
              <a:t>We help English-reading students and app users locate important ToS clauses and check the original passage.</a:t>
            </a:r>
            <a:endParaRPr/>
          </a:p>
        </p:txBody>
      </p:sp>
      <p:sp>
        <p:nvSpPr>
          <p:cNvPr id="92" name="Google Shape;92;p13"/>
          <p:cNvSpPr/>
          <p:nvPr/>
        </p:nvSpPr>
        <p:spPr>
          <a:xfrm>
            <a:off x="530352" y="4224528"/>
            <a:ext cx="1325880" cy="310896"/>
          </a:xfrm>
          <a:prstGeom prst="roundRect">
            <a:avLst>
              <a:gd fmla="val 12000" name="adj"/>
            </a:avLst>
          </a:prstGeom>
          <a:solidFill>
            <a:srgbClr val="007D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3"/>
          <p:cNvSpPr txBox="1"/>
          <p:nvPr/>
        </p:nvSpPr>
        <p:spPr>
          <a:xfrm>
            <a:off x="621792" y="4274820"/>
            <a:ext cx="11430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FFFFFF"/>
                </a:solidFill>
                <a:latin typeface="Arial"/>
                <a:ea typeface="Arial"/>
                <a:cs typeface="Arial"/>
                <a:sym typeface="Arial"/>
              </a:rPr>
              <a:t>LOCAL NLP</a:t>
            </a:r>
            <a:endParaRPr/>
          </a:p>
        </p:txBody>
      </p:sp>
      <p:sp>
        <p:nvSpPr>
          <p:cNvPr id="94" name="Google Shape;94;p13"/>
          <p:cNvSpPr/>
          <p:nvPr/>
        </p:nvSpPr>
        <p:spPr>
          <a:xfrm>
            <a:off x="1965960" y="4224528"/>
            <a:ext cx="1920240" cy="310896"/>
          </a:xfrm>
          <a:prstGeom prst="roundRect">
            <a:avLst>
              <a:gd fmla="val 12000" name="adj"/>
            </a:avLst>
          </a:prstGeom>
          <a:solidFill>
            <a:srgbClr val="007D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 name="Google Shape;95;p13"/>
          <p:cNvSpPr txBox="1"/>
          <p:nvPr/>
        </p:nvSpPr>
        <p:spPr>
          <a:xfrm>
            <a:off x="2057400" y="4274820"/>
            <a:ext cx="173736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FFFFFF"/>
                </a:solidFill>
                <a:latin typeface="Arial"/>
                <a:ea typeface="Arial"/>
                <a:cs typeface="Arial"/>
                <a:sym typeface="Arial"/>
              </a:rPr>
              <a:t>8 CATEGORIES</a:t>
            </a:r>
            <a:endParaRPr/>
          </a:p>
        </p:txBody>
      </p:sp>
      <p:sp>
        <p:nvSpPr>
          <p:cNvPr id="96" name="Google Shape;96;p13"/>
          <p:cNvSpPr/>
          <p:nvPr/>
        </p:nvSpPr>
        <p:spPr>
          <a:xfrm>
            <a:off x="3986784" y="4224528"/>
            <a:ext cx="2377440" cy="310896"/>
          </a:xfrm>
          <a:prstGeom prst="roundRect">
            <a:avLst>
              <a:gd fmla="val 12000" name="adj"/>
            </a:avLst>
          </a:prstGeom>
          <a:solidFill>
            <a:srgbClr val="007D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13"/>
          <p:cNvSpPr txBox="1"/>
          <p:nvPr/>
        </p:nvSpPr>
        <p:spPr>
          <a:xfrm>
            <a:off x="4078224" y="4274820"/>
            <a:ext cx="219456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FFFFFF"/>
                </a:solidFill>
                <a:latin typeface="Arial"/>
                <a:ea typeface="Arial"/>
                <a:cs typeface="Arial"/>
                <a:sym typeface="Arial"/>
              </a:rPr>
              <a:t>SOURCE-LINKED</a:t>
            </a:r>
            <a:endParaRPr/>
          </a:p>
        </p:txBody>
      </p:sp>
      <p:sp>
        <p:nvSpPr>
          <p:cNvPr id="98" name="Google Shape;98;p13"/>
          <p:cNvSpPr/>
          <p:nvPr/>
        </p:nvSpPr>
        <p:spPr>
          <a:xfrm>
            <a:off x="7653527" y="1691640"/>
            <a:ext cx="3886200" cy="3099816"/>
          </a:xfrm>
          <a:prstGeom prst="roundRect">
            <a:avLst>
              <a:gd fmla="val 12000" name="adj"/>
            </a:avLst>
          </a:prstGeom>
          <a:solidFill>
            <a:srgbClr val="203D4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 name="Google Shape;99;p13"/>
          <p:cNvSpPr txBox="1"/>
          <p:nvPr/>
        </p:nvSpPr>
        <p:spPr>
          <a:xfrm>
            <a:off x="7927848" y="1956816"/>
            <a:ext cx="32918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CBE8DE"/>
                </a:solidFill>
                <a:latin typeface="Arial"/>
                <a:ea typeface="Arial"/>
                <a:cs typeface="Arial"/>
                <a:sym typeface="Arial"/>
              </a:rPr>
              <a:t>A PASSAGE TO REVIEW</a:t>
            </a:r>
            <a:endParaRPr/>
          </a:p>
        </p:txBody>
      </p:sp>
      <p:sp>
        <p:nvSpPr>
          <p:cNvPr id="100" name="Google Shape;100;p13"/>
          <p:cNvSpPr txBox="1"/>
          <p:nvPr/>
        </p:nvSpPr>
        <p:spPr>
          <a:xfrm>
            <a:off x="7927848" y="2450592"/>
            <a:ext cx="3291840" cy="1143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Arial"/>
                <a:ea typeface="Arial"/>
                <a:cs typeface="Arial"/>
                <a:sym typeface="Arial"/>
              </a:rPr>
              <a:t>“We may remove any photos or comments you upload … without notice.”</a:t>
            </a:r>
            <a:endParaRPr/>
          </a:p>
        </p:txBody>
      </p:sp>
      <p:sp>
        <p:nvSpPr>
          <p:cNvPr id="101" name="Google Shape;101;p13"/>
          <p:cNvSpPr/>
          <p:nvPr/>
        </p:nvSpPr>
        <p:spPr>
          <a:xfrm>
            <a:off x="7927848" y="3986784"/>
            <a:ext cx="2697480" cy="310896"/>
          </a:xfrm>
          <a:prstGeom prst="roundRect">
            <a:avLst>
              <a:gd fmla="val 12000" name="adj"/>
            </a:avLst>
          </a:prstGeom>
          <a:solidFill>
            <a:srgbClr val="CBE8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13"/>
          <p:cNvSpPr txBox="1"/>
          <p:nvPr/>
        </p:nvSpPr>
        <p:spPr>
          <a:xfrm>
            <a:off x="8019288" y="4037076"/>
            <a:ext cx="251460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07D78"/>
                </a:solidFill>
                <a:latin typeface="Arial"/>
                <a:ea typeface="Arial"/>
                <a:cs typeface="Arial"/>
                <a:sym typeface="Arial"/>
              </a:rPr>
              <a:t>Content removal</a:t>
            </a:r>
            <a:endParaRPr/>
          </a:p>
        </p:txBody>
      </p:sp>
      <p:sp>
        <p:nvSpPr>
          <p:cNvPr id="103" name="Google Shape;103;p13"/>
          <p:cNvSpPr txBox="1"/>
          <p:nvPr/>
        </p:nvSpPr>
        <p:spPr>
          <a:xfrm>
            <a:off x="530352" y="5111496"/>
            <a:ext cx="110642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CBE8DE"/>
                </a:solidFill>
                <a:latin typeface="Arial"/>
                <a:ea typeface="Arial"/>
                <a:cs typeface="Arial"/>
                <a:sym typeface="Arial"/>
              </a:rPr>
              <a:t>TEAM  •  EVERYONE WRITES CODE</a:t>
            </a:r>
            <a:endParaRPr/>
          </a:p>
        </p:txBody>
      </p:sp>
      <p:sp>
        <p:nvSpPr>
          <p:cNvPr id="104" name="Google Shape;104;p13"/>
          <p:cNvSpPr txBox="1"/>
          <p:nvPr/>
        </p:nvSpPr>
        <p:spPr>
          <a:xfrm>
            <a:off x="530352" y="5513832"/>
            <a:ext cx="2103120" cy="26517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FFFFF"/>
                </a:solidFill>
                <a:latin typeface="Arial"/>
                <a:ea typeface="Arial"/>
                <a:cs typeface="Arial"/>
                <a:sym typeface="Arial"/>
              </a:rPr>
              <a:t>Ankan Roy</a:t>
            </a:r>
            <a:endParaRPr/>
          </a:p>
        </p:txBody>
      </p:sp>
      <p:sp>
        <p:nvSpPr>
          <p:cNvPr id="105" name="Google Shape;105;p13"/>
          <p:cNvSpPr txBox="1"/>
          <p:nvPr/>
        </p:nvSpPr>
        <p:spPr>
          <a:xfrm>
            <a:off x="530352" y="5833872"/>
            <a:ext cx="2103120" cy="2377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BE8DE"/>
                </a:solidFill>
                <a:latin typeface="Arial"/>
                <a:ea typeface="Arial"/>
                <a:cs typeface="Arial"/>
                <a:sym typeface="Arial"/>
              </a:rPr>
              <a:t>Operations</a:t>
            </a:r>
            <a:endParaRPr/>
          </a:p>
        </p:txBody>
      </p:sp>
      <p:sp>
        <p:nvSpPr>
          <p:cNvPr id="106" name="Google Shape;106;p13"/>
          <p:cNvSpPr txBox="1"/>
          <p:nvPr/>
        </p:nvSpPr>
        <p:spPr>
          <a:xfrm>
            <a:off x="2798064" y="5513832"/>
            <a:ext cx="2103120" cy="26517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FFFFF"/>
                </a:solidFill>
                <a:latin typeface="Arial"/>
                <a:ea typeface="Arial"/>
                <a:cs typeface="Arial"/>
                <a:sym typeface="Arial"/>
              </a:rPr>
              <a:t>Ameer Shaik</a:t>
            </a:r>
            <a:endParaRPr/>
          </a:p>
        </p:txBody>
      </p:sp>
      <p:sp>
        <p:nvSpPr>
          <p:cNvPr id="107" name="Google Shape;107;p13"/>
          <p:cNvSpPr txBox="1"/>
          <p:nvPr/>
        </p:nvSpPr>
        <p:spPr>
          <a:xfrm>
            <a:off x="2798064" y="5833872"/>
            <a:ext cx="2103120" cy="2377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BE8DE"/>
                </a:solidFill>
                <a:latin typeface="Arial"/>
                <a:ea typeface="Arial"/>
                <a:cs typeface="Arial"/>
                <a:sym typeface="Arial"/>
              </a:rPr>
              <a:t>Product</a:t>
            </a:r>
            <a:endParaRPr/>
          </a:p>
        </p:txBody>
      </p:sp>
      <p:sp>
        <p:nvSpPr>
          <p:cNvPr id="108" name="Google Shape;108;p13"/>
          <p:cNvSpPr txBox="1"/>
          <p:nvPr/>
        </p:nvSpPr>
        <p:spPr>
          <a:xfrm>
            <a:off x="5065776" y="5513832"/>
            <a:ext cx="2103120" cy="26517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FFFFF"/>
                </a:solidFill>
                <a:latin typeface="Arial"/>
                <a:ea typeface="Arial"/>
                <a:cs typeface="Arial"/>
                <a:sym typeface="Arial"/>
              </a:rPr>
              <a:t>Hemanth Reddy</a:t>
            </a:r>
            <a:endParaRPr/>
          </a:p>
        </p:txBody>
      </p:sp>
      <p:sp>
        <p:nvSpPr>
          <p:cNvPr id="109" name="Google Shape;109;p13"/>
          <p:cNvSpPr txBox="1"/>
          <p:nvPr/>
        </p:nvSpPr>
        <p:spPr>
          <a:xfrm>
            <a:off x="5065776" y="5833872"/>
            <a:ext cx="2103120" cy="2377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BE8DE"/>
                </a:solidFill>
                <a:latin typeface="Arial"/>
                <a:ea typeface="Arial"/>
                <a:cs typeface="Arial"/>
                <a:sym typeface="Arial"/>
              </a:rPr>
              <a:t>Engineering</a:t>
            </a:r>
            <a:endParaRPr/>
          </a:p>
        </p:txBody>
      </p:sp>
      <p:sp>
        <p:nvSpPr>
          <p:cNvPr id="110" name="Google Shape;110;p13"/>
          <p:cNvSpPr txBox="1"/>
          <p:nvPr/>
        </p:nvSpPr>
        <p:spPr>
          <a:xfrm>
            <a:off x="7333488" y="5513832"/>
            <a:ext cx="2103120" cy="26517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FFFFF"/>
                </a:solidFill>
                <a:latin typeface="Arial"/>
                <a:ea typeface="Arial"/>
                <a:cs typeface="Arial"/>
                <a:sym typeface="Arial"/>
              </a:rPr>
              <a:t>Jayakrishna Puttur</a:t>
            </a:r>
            <a:endParaRPr/>
          </a:p>
        </p:txBody>
      </p:sp>
      <p:sp>
        <p:nvSpPr>
          <p:cNvPr id="111" name="Google Shape;111;p13"/>
          <p:cNvSpPr txBox="1"/>
          <p:nvPr/>
        </p:nvSpPr>
        <p:spPr>
          <a:xfrm>
            <a:off x="7333488" y="5833872"/>
            <a:ext cx="2103120" cy="2377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BE8DE"/>
                </a:solidFill>
                <a:latin typeface="Arial"/>
                <a:ea typeface="Arial"/>
                <a:cs typeface="Arial"/>
                <a:sym typeface="Arial"/>
              </a:rPr>
              <a:t>Data &amp; evaluation</a:t>
            </a:r>
            <a:endParaRPr/>
          </a:p>
        </p:txBody>
      </p:sp>
      <p:sp>
        <p:nvSpPr>
          <p:cNvPr id="112" name="Google Shape;112;p13"/>
          <p:cNvSpPr txBox="1"/>
          <p:nvPr/>
        </p:nvSpPr>
        <p:spPr>
          <a:xfrm>
            <a:off x="9601200" y="5513832"/>
            <a:ext cx="2103120" cy="26517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FFFFFF"/>
                </a:solidFill>
                <a:latin typeface="Arial"/>
                <a:ea typeface="Arial"/>
                <a:cs typeface="Arial"/>
                <a:sym typeface="Arial"/>
              </a:rPr>
              <a:t>Niveda Jawahar</a:t>
            </a:r>
            <a:endParaRPr/>
          </a:p>
        </p:txBody>
      </p:sp>
      <p:sp>
        <p:nvSpPr>
          <p:cNvPr id="113" name="Google Shape;113;p13"/>
          <p:cNvSpPr txBox="1"/>
          <p:nvPr/>
        </p:nvSpPr>
        <p:spPr>
          <a:xfrm>
            <a:off x="9601200" y="5833872"/>
            <a:ext cx="2103120" cy="2377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u="none" cap="none" strike="noStrike">
                <a:solidFill>
                  <a:srgbClr val="CBE8DE"/>
                </a:solidFill>
                <a:latin typeface="Arial"/>
                <a:ea typeface="Arial"/>
                <a:cs typeface="Arial"/>
                <a:sym typeface="Arial"/>
              </a:rPr>
              <a:t>Users &amp; research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118" name="Shape 118"/>
        <p:cNvGrpSpPr/>
        <p:nvPr/>
      </p:nvGrpSpPr>
      <p:grpSpPr>
        <a:xfrm>
          <a:off x="0" y="0"/>
          <a:ext cx="0" cy="0"/>
          <a:chOff x="0" y="0"/>
          <a:chExt cx="0" cy="0"/>
        </a:xfrm>
      </p:grpSpPr>
      <p:sp>
        <p:nvSpPr>
          <p:cNvPr id="119" name="Google Shape;119;p14"/>
          <p:cNvSpPr txBox="1"/>
          <p:nvPr/>
        </p:nvSpPr>
        <p:spPr>
          <a:xfrm>
            <a:off x="502920" y="265176"/>
            <a:ext cx="8229600" cy="21945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01 / PROBLEM &amp; USERS</a:t>
            </a:r>
            <a:endParaRPr/>
          </a:p>
        </p:txBody>
      </p:sp>
      <p:sp>
        <p:nvSpPr>
          <p:cNvPr id="120" name="Google Shape;120;p14"/>
          <p:cNvSpPr txBox="1"/>
          <p:nvPr/>
        </p:nvSpPr>
        <p:spPr>
          <a:xfrm>
            <a:off x="502920" y="713232"/>
            <a:ext cx="1115568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00" u="none" cap="none" strike="noStrike">
                <a:solidFill>
                  <a:srgbClr val="18333E"/>
                </a:solidFill>
                <a:latin typeface="Arial"/>
                <a:ea typeface="Arial"/>
                <a:cs typeface="Arial"/>
                <a:sym typeface="Arial"/>
              </a:rPr>
              <a:t>The hard part is finding the passage that matters.</a:t>
            </a:r>
            <a:endParaRPr/>
          </a:p>
        </p:txBody>
      </p:sp>
      <p:sp>
        <p:nvSpPr>
          <p:cNvPr id="121" name="Google Shape;121;p14"/>
          <p:cNvSpPr txBox="1"/>
          <p:nvPr/>
        </p:nvSpPr>
        <p:spPr>
          <a:xfrm>
            <a:off x="502920" y="1399032"/>
            <a:ext cx="110642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9717A"/>
                </a:solidFill>
                <a:latin typeface="Arial"/>
                <a:ea typeface="Arial"/>
                <a:cs typeface="Arial"/>
                <a:sym typeface="Arial"/>
              </a:rPr>
              <a:t>Target user: an English-reading student or app user reviewing an unfamiliar Terms of Service.</a:t>
            </a:r>
            <a:endParaRPr/>
          </a:p>
        </p:txBody>
      </p:sp>
      <p:sp>
        <p:nvSpPr>
          <p:cNvPr id="122" name="Google Shape;122;p14"/>
          <p:cNvSpPr/>
          <p:nvPr/>
        </p:nvSpPr>
        <p:spPr>
          <a:xfrm>
            <a:off x="502920" y="6409944"/>
            <a:ext cx="11155680" cy="10972"/>
          </a:xfrm>
          <a:prstGeom prst="rect">
            <a:avLst/>
          </a:prstGeom>
          <a:solidFill>
            <a:srgbClr val="CAD4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4"/>
          <p:cNvSpPr txBox="1"/>
          <p:nvPr/>
        </p:nvSpPr>
        <p:spPr>
          <a:xfrm>
            <a:off x="502920" y="6528816"/>
            <a:ext cx="274320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59717A"/>
                </a:solidFill>
                <a:latin typeface="Arial"/>
                <a:ea typeface="Arial"/>
                <a:cs typeface="Arial"/>
                <a:sym typeface="Arial"/>
              </a:rPr>
              <a:t>CLAUSEGUARD  /  MID-SEMESTER</a:t>
            </a:r>
            <a:endParaRPr/>
          </a:p>
        </p:txBody>
      </p:sp>
      <p:sp>
        <p:nvSpPr>
          <p:cNvPr id="124" name="Google Shape;124;p14"/>
          <p:cNvSpPr txBox="1"/>
          <p:nvPr/>
        </p:nvSpPr>
        <p:spPr>
          <a:xfrm>
            <a:off x="11292840" y="6501384"/>
            <a:ext cx="365760" cy="21945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000" u="none" cap="none" strike="noStrike">
                <a:solidFill>
                  <a:srgbClr val="59717A"/>
                </a:solidFill>
                <a:latin typeface="Arial"/>
                <a:ea typeface="Arial"/>
                <a:cs typeface="Arial"/>
                <a:sym typeface="Arial"/>
              </a:rPr>
              <a:t>02</a:t>
            </a:r>
            <a:endParaRPr/>
          </a:p>
        </p:txBody>
      </p:sp>
      <p:sp>
        <p:nvSpPr>
          <p:cNvPr id="125" name="Google Shape;125;p14"/>
          <p:cNvSpPr/>
          <p:nvPr/>
        </p:nvSpPr>
        <p:spPr>
          <a:xfrm>
            <a:off x="502920" y="2103120"/>
            <a:ext cx="3602736" cy="2313432"/>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14"/>
          <p:cNvSpPr txBox="1"/>
          <p:nvPr/>
        </p:nvSpPr>
        <p:spPr>
          <a:xfrm>
            <a:off x="713232" y="2304288"/>
            <a:ext cx="594360" cy="3931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07D78"/>
                </a:solidFill>
                <a:latin typeface="Arial"/>
                <a:ea typeface="Arial"/>
                <a:cs typeface="Arial"/>
                <a:sym typeface="Arial"/>
              </a:rPr>
              <a:t>01</a:t>
            </a:r>
            <a:endParaRPr/>
          </a:p>
        </p:txBody>
      </p:sp>
      <p:sp>
        <p:nvSpPr>
          <p:cNvPr id="127" name="Google Shape;127;p14"/>
          <p:cNvSpPr txBox="1"/>
          <p:nvPr/>
        </p:nvSpPr>
        <p:spPr>
          <a:xfrm>
            <a:off x="713232" y="2852928"/>
            <a:ext cx="313639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00" u="none" cap="none" strike="noStrike">
                <a:solidFill>
                  <a:srgbClr val="18333E"/>
                </a:solidFill>
                <a:latin typeface="Arial"/>
                <a:ea typeface="Arial"/>
                <a:cs typeface="Arial"/>
                <a:sym typeface="Arial"/>
              </a:rPr>
              <a:t>A concrete question</a:t>
            </a:r>
            <a:endParaRPr/>
          </a:p>
        </p:txBody>
      </p:sp>
      <p:sp>
        <p:nvSpPr>
          <p:cNvPr id="128" name="Google Shape;128;p14"/>
          <p:cNvSpPr txBox="1"/>
          <p:nvPr/>
        </p:nvSpPr>
        <p:spPr>
          <a:xfrm>
            <a:off x="713232" y="3438144"/>
            <a:ext cx="310896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8333E"/>
                </a:solidFill>
                <a:latin typeface="Arial"/>
                <a:ea typeface="Arial"/>
                <a:cs typeface="Arial"/>
                <a:sym typeface="Arial"/>
              </a:rPr>
              <a:t>Can the service delete my photos without warning?</a:t>
            </a:r>
            <a:endParaRPr/>
          </a:p>
        </p:txBody>
      </p:sp>
      <p:sp>
        <p:nvSpPr>
          <p:cNvPr id="129" name="Google Shape;129;p14"/>
          <p:cNvSpPr/>
          <p:nvPr/>
        </p:nvSpPr>
        <p:spPr>
          <a:xfrm>
            <a:off x="4279392" y="2103120"/>
            <a:ext cx="3602736" cy="2313432"/>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14"/>
          <p:cNvSpPr txBox="1"/>
          <p:nvPr/>
        </p:nvSpPr>
        <p:spPr>
          <a:xfrm>
            <a:off x="4489704" y="2304288"/>
            <a:ext cx="594360" cy="3931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07D78"/>
                </a:solidFill>
                <a:latin typeface="Arial"/>
                <a:ea typeface="Arial"/>
                <a:cs typeface="Arial"/>
                <a:sym typeface="Arial"/>
              </a:rPr>
              <a:t>02</a:t>
            </a:r>
            <a:endParaRPr/>
          </a:p>
        </p:txBody>
      </p:sp>
      <p:sp>
        <p:nvSpPr>
          <p:cNvPr id="131" name="Google Shape;131;p14"/>
          <p:cNvSpPr txBox="1"/>
          <p:nvPr/>
        </p:nvSpPr>
        <p:spPr>
          <a:xfrm>
            <a:off x="4489704" y="2852928"/>
            <a:ext cx="313639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00" u="none" cap="none" strike="noStrike">
                <a:solidFill>
                  <a:srgbClr val="18333E"/>
                </a:solidFill>
                <a:latin typeface="Arial"/>
                <a:ea typeface="Arial"/>
                <a:cs typeface="Arial"/>
                <a:sym typeface="Arial"/>
              </a:rPr>
              <a:t>Today’s workflow</a:t>
            </a:r>
            <a:endParaRPr/>
          </a:p>
        </p:txBody>
      </p:sp>
      <p:sp>
        <p:nvSpPr>
          <p:cNvPr id="132" name="Google Shape;132;p14"/>
          <p:cNvSpPr txBox="1"/>
          <p:nvPr/>
        </p:nvSpPr>
        <p:spPr>
          <a:xfrm>
            <a:off x="4489704" y="3438144"/>
            <a:ext cx="310896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8333E"/>
                </a:solidFill>
                <a:latin typeface="Arial"/>
                <a:ea typeface="Arial"/>
                <a:cs typeface="Arial"/>
                <a:sym typeface="Arial"/>
              </a:rPr>
              <a:t>Read the document or use keyword search, then interpret the clause.</a:t>
            </a:r>
            <a:endParaRPr/>
          </a:p>
        </p:txBody>
      </p:sp>
      <p:sp>
        <p:nvSpPr>
          <p:cNvPr id="133" name="Google Shape;133;p14"/>
          <p:cNvSpPr/>
          <p:nvPr/>
        </p:nvSpPr>
        <p:spPr>
          <a:xfrm>
            <a:off x="8055864" y="2103120"/>
            <a:ext cx="3602736" cy="2313432"/>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4"/>
          <p:cNvSpPr txBox="1"/>
          <p:nvPr/>
        </p:nvSpPr>
        <p:spPr>
          <a:xfrm>
            <a:off x="8266176" y="2304288"/>
            <a:ext cx="594360" cy="3931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07D78"/>
                </a:solidFill>
                <a:latin typeface="Arial"/>
                <a:ea typeface="Arial"/>
                <a:cs typeface="Arial"/>
                <a:sym typeface="Arial"/>
              </a:rPr>
              <a:t>03</a:t>
            </a:r>
            <a:endParaRPr/>
          </a:p>
        </p:txBody>
      </p:sp>
      <p:sp>
        <p:nvSpPr>
          <p:cNvPr id="135" name="Google Shape;135;p14"/>
          <p:cNvSpPr txBox="1"/>
          <p:nvPr/>
        </p:nvSpPr>
        <p:spPr>
          <a:xfrm>
            <a:off x="8266176" y="2852928"/>
            <a:ext cx="3136392"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200" u="none" cap="none" strike="noStrike">
                <a:solidFill>
                  <a:srgbClr val="18333E"/>
                </a:solidFill>
                <a:latin typeface="Arial"/>
                <a:ea typeface="Arial"/>
                <a:cs typeface="Arial"/>
                <a:sym typeface="Arial"/>
              </a:rPr>
              <a:t>Our value hypothesis</a:t>
            </a:r>
            <a:endParaRPr/>
          </a:p>
        </p:txBody>
      </p:sp>
      <p:sp>
        <p:nvSpPr>
          <p:cNvPr id="136" name="Google Shape;136;p14"/>
          <p:cNvSpPr txBox="1"/>
          <p:nvPr/>
        </p:nvSpPr>
        <p:spPr>
          <a:xfrm>
            <a:off x="8266176" y="3438144"/>
            <a:ext cx="310896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18333E"/>
                </a:solidFill>
                <a:latin typeface="Arial"/>
                <a:ea typeface="Arial"/>
                <a:cs typeface="Arial"/>
                <a:sym typeface="Arial"/>
              </a:rPr>
              <a:t>Find a relevant passage and category, then check the exact words.</a:t>
            </a:r>
            <a:endParaRPr/>
          </a:p>
        </p:txBody>
      </p:sp>
      <p:sp>
        <p:nvSpPr>
          <p:cNvPr id="137" name="Google Shape;137;p14"/>
          <p:cNvSpPr/>
          <p:nvPr/>
        </p:nvSpPr>
        <p:spPr>
          <a:xfrm>
            <a:off x="502920" y="4718304"/>
            <a:ext cx="11155680" cy="1179576"/>
          </a:xfrm>
          <a:prstGeom prst="roundRect">
            <a:avLst>
              <a:gd fmla="val 12000" name="adj"/>
            </a:avLst>
          </a:prstGeom>
          <a:solidFill>
            <a:srgbClr val="132A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14"/>
          <p:cNvSpPr txBox="1"/>
          <p:nvPr/>
        </p:nvSpPr>
        <p:spPr>
          <a:xfrm>
            <a:off x="731520" y="4928616"/>
            <a:ext cx="1965960" cy="6217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300" u="none" cap="none" strike="noStrike">
                <a:solidFill>
                  <a:srgbClr val="FFFFFF"/>
                </a:solidFill>
                <a:latin typeface="Arial"/>
                <a:ea typeface="Arial"/>
                <a:cs typeface="Arial"/>
                <a:sym typeface="Arial"/>
              </a:rPr>
              <a:t>Focused scope</a:t>
            </a:r>
            <a:endParaRPr/>
          </a:p>
        </p:txBody>
      </p:sp>
      <p:sp>
        <p:nvSpPr>
          <p:cNvPr id="139" name="Google Shape;139;p14"/>
          <p:cNvSpPr txBox="1"/>
          <p:nvPr/>
        </p:nvSpPr>
        <p:spPr>
          <a:xfrm>
            <a:off x="2971800" y="4937760"/>
            <a:ext cx="8321040" cy="66751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00" u="none" cap="none" strike="noStrike">
                <a:solidFill>
                  <a:srgbClr val="CBE8DE"/>
                </a:solidFill>
                <a:latin typeface="Arial"/>
                <a:ea typeface="Arial"/>
                <a:cs typeface="Arial"/>
                <a:sym typeface="Arial"/>
              </a:rPr>
              <a:t>Eight clause categories, including content removal, arbitration and liability. Privacy and data-sharing detection are outside the current model.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144" name="Shape 144"/>
        <p:cNvGrpSpPr/>
        <p:nvPr/>
      </p:nvGrpSpPr>
      <p:grpSpPr>
        <a:xfrm>
          <a:off x="0" y="0"/>
          <a:ext cx="0" cy="0"/>
          <a:chOff x="0" y="0"/>
          <a:chExt cx="0" cy="0"/>
        </a:xfrm>
      </p:grpSpPr>
      <p:sp>
        <p:nvSpPr>
          <p:cNvPr id="145" name="Google Shape;145;p15"/>
          <p:cNvSpPr txBox="1"/>
          <p:nvPr/>
        </p:nvSpPr>
        <p:spPr>
          <a:xfrm>
            <a:off x="502920" y="265176"/>
            <a:ext cx="8229600" cy="21945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02 / PRODUCT SHIPPED</a:t>
            </a:r>
            <a:endParaRPr/>
          </a:p>
        </p:txBody>
      </p:sp>
      <p:sp>
        <p:nvSpPr>
          <p:cNvPr id="146" name="Google Shape;146;p15"/>
          <p:cNvSpPr txBox="1"/>
          <p:nvPr/>
        </p:nvSpPr>
        <p:spPr>
          <a:xfrm>
            <a:off x="502920" y="713232"/>
            <a:ext cx="1115568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00" u="none" cap="none" strike="noStrike">
                <a:solidFill>
                  <a:srgbClr val="18333E"/>
                </a:solidFill>
                <a:latin typeface="Arial"/>
                <a:ea typeface="Arial"/>
                <a:cs typeface="Arial"/>
                <a:sym typeface="Arial"/>
              </a:rPr>
              <a:t>A working app, with the evidence beside each flag.</a:t>
            </a:r>
            <a:endParaRPr/>
          </a:p>
        </p:txBody>
      </p:sp>
      <p:sp>
        <p:nvSpPr>
          <p:cNvPr id="147" name="Google Shape;147;p15"/>
          <p:cNvSpPr txBox="1"/>
          <p:nvPr/>
        </p:nvSpPr>
        <p:spPr>
          <a:xfrm>
            <a:off x="502920" y="1399032"/>
            <a:ext cx="110642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9717A"/>
                </a:solidFill>
                <a:latin typeface="Arial"/>
                <a:ea typeface="Arial"/>
                <a:cs typeface="Arial"/>
                <a:sym typeface="Arial"/>
              </a:rPr>
              <a:t>Desktop app + command-line analysis + self-contained HTML export.</a:t>
            </a:r>
            <a:endParaRPr/>
          </a:p>
        </p:txBody>
      </p:sp>
      <p:sp>
        <p:nvSpPr>
          <p:cNvPr id="148" name="Google Shape;148;p15"/>
          <p:cNvSpPr/>
          <p:nvPr/>
        </p:nvSpPr>
        <p:spPr>
          <a:xfrm>
            <a:off x="502920" y="6409944"/>
            <a:ext cx="11155680" cy="10972"/>
          </a:xfrm>
          <a:prstGeom prst="rect">
            <a:avLst/>
          </a:prstGeom>
          <a:solidFill>
            <a:srgbClr val="CAD4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15"/>
          <p:cNvSpPr txBox="1"/>
          <p:nvPr/>
        </p:nvSpPr>
        <p:spPr>
          <a:xfrm>
            <a:off x="502920" y="6528816"/>
            <a:ext cx="274320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59717A"/>
                </a:solidFill>
                <a:latin typeface="Arial"/>
                <a:ea typeface="Arial"/>
                <a:cs typeface="Arial"/>
                <a:sym typeface="Arial"/>
              </a:rPr>
              <a:t>CLAUSEGUARD  /  MID-SEMESTER</a:t>
            </a:r>
            <a:endParaRPr/>
          </a:p>
        </p:txBody>
      </p:sp>
      <p:sp>
        <p:nvSpPr>
          <p:cNvPr id="150" name="Google Shape;150;p15"/>
          <p:cNvSpPr txBox="1"/>
          <p:nvPr/>
        </p:nvSpPr>
        <p:spPr>
          <a:xfrm>
            <a:off x="11292840" y="6501384"/>
            <a:ext cx="365760" cy="21945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000" u="none" cap="none" strike="noStrike">
                <a:solidFill>
                  <a:srgbClr val="59717A"/>
                </a:solidFill>
                <a:latin typeface="Arial"/>
                <a:ea typeface="Arial"/>
                <a:cs typeface="Arial"/>
                <a:sym typeface="Arial"/>
              </a:rPr>
              <a:t>03</a:t>
            </a:r>
            <a:endParaRPr/>
          </a:p>
        </p:txBody>
      </p:sp>
      <p:sp>
        <p:nvSpPr>
          <p:cNvPr id="151" name="Google Shape;151;p15"/>
          <p:cNvSpPr/>
          <p:nvPr/>
        </p:nvSpPr>
        <p:spPr>
          <a:xfrm>
            <a:off x="502920" y="2029968"/>
            <a:ext cx="7818120" cy="4078224"/>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p15"/>
          <p:cNvSpPr/>
          <p:nvPr/>
        </p:nvSpPr>
        <p:spPr>
          <a:xfrm>
            <a:off x="8595360" y="2167128"/>
            <a:ext cx="384048" cy="310896"/>
          </a:xfrm>
          <a:prstGeom prst="roundRect">
            <a:avLst>
              <a:gd fmla="val 12000" name="adj"/>
            </a:avLst>
          </a:prstGeom>
          <a:solidFill>
            <a:srgbClr val="007D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5"/>
          <p:cNvSpPr txBox="1"/>
          <p:nvPr/>
        </p:nvSpPr>
        <p:spPr>
          <a:xfrm>
            <a:off x="8686800" y="2217420"/>
            <a:ext cx="201167"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FFFFF"/>
                </a:solidFill>
                <a:latin typeface="Arial"/>
                <a:ea typeface="Arial"/>
                <a:cs typeface="Arial"/>
                <a:sym typeface="Arial"/>
              </a:rPr>
              <a:t>1</a:t>
            </a:r>
            <a:endParaRPr/>
          </a:p>
        </p:txBody>
      </p:sp>
      <p:sp>
        <p:nvSpPr>
          <p:cNvPr id="154" name="Google Shape;154;p15"/>
          <p:cNvSpPr txBox="1"/>
          <p:nvPr/>
        </p:nvSpPr>
        <p:spPr>
          <a:xfrm>
            <a:off x="9107424" y="2148840"/>
            <a:ext cx="2414016"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00" u="none" cap="none" strike="noStrike">
                <a:solidFill>
                  <a:srgbClr val="18333E"/>
                </a:solidFill>
                <a:latin typeface="Arial"/>
                <a:ea typeface="Arial"/>
                <a:cs typeface="Arial"/>
                <a:sym typeface="Arial"/>
              </a:rPr>
              <a:t>Load + analyze</a:t>
            </a:r>
            <a:endParaRPr/>
          </a:p>
        </p:txBody>
      </p:sp>
      <p:sp>
        <p:nvSpPr>
          <p:cNvPr id="155" name="Google Shape;155;p15"/>
          <p:cNvSpPr txBox="1"/>
          <p:nvPr/>
        </p:nvSpPr>
        <p:spPr>
          <a:xfrm>
            <a:off x="9107424" y="2624328"/>
            <a:ext cx="237744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59717A"/>
                </a:solidFill>
                <a:latin typeface="Arial"/>
                <a:ea typeface="Arial"/>
                <a:cs typeface="Arial"/>
                <a:sym typeface="Arial"/>
              </a:rPr>
              <a:t>Paste English text or open a text file.</a:t>
            </a:r>
            <a:endParaRPr/>
          </a:p>
        </p:txBody>
      </p:sp>
      <p:sp>
        <p:nvSpPr>
          <p:cNvPr id="156" name="Google Shape;156;p15"/>
          <p:cNvSpPr/>
          <p:nvPr/>
        </p:nvSpPr>
        <p:spPr>
          <a:xfrm>
            <a:off x="8595360" y="3401568"/>
            <a:ext cx="384048" cy="310896"/>
          </a:xfrm>
          <a:prstGeom prst="roundRect">
            <a:avLst>
              <a:gd fmla="val 12000" name="adj"/>
            </a:avLst>
          </a:prstGeom>
          <a:solidFill>
            <a:srgbClr val="007D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7" name="Google Shape;157;p15"/>
          <p:cNvSpPr txBox="1"/>
          <p:nvPr/>
        </p:nvSpPr>
        <p:spPr>
          <a:xfrm>
            <a:off x="8686800" y="3451860"/>
            <a:ext cx="201167"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FFFFF"/>
                </a:solidFill>
                <a:latin typeface="Arial"/>
                <a:ea typeface="Arial"/>
                <a:cs typeface="Arial"/>
                <a:sym typeface="Arial"/>
              </a:rPr>
              <a:t>2</a:t>
            </a:r>
            <a:endParaRPr/>
          </a:p>
        </p:txBody>
      </p:sp>
      <p:sp>
        <p:nvSpPr>
          <p:cNvPr id="158" name="Google Shape;158;p15"/>
          <p:cNvSpPr txBox="1"/>
          <p:nvPr/>
        </p:nvSpPr>
        <p:spPr>
          <a:xfrm>
            <a:off x="9107424" y="3383280"/>
            <a:ext cx="2414016"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00" u="none" cap="none" strike="noStrike">
                <a:solidFill>
                  <a:srgbClr val="18333E"/>
                </a:solidFill>
                <a:latin typeface="Arial"/>
                <a:ea typeface="Arial"/>
                <a:cs typeface="Arial"/>
                <a:sym typeface="Arial"/>
              </a:rPr>
              <a:t>Select a result</a:t>
            </a:r>
            <a:endParaRPr/>
          </a:p>
        </p:txBody>
      </p:sp>
      <p:sp>
        <p:nvSpPr>
          <p:cNvPr id="159" name="Google Shape;159;p15"/>
          <p:cNvSpPr txBox="1"/>
          <p:nvPr/>
        </p:nvSpPr>
        <p:spPr>
          <a:xfrm>
            <a:off x="9107424" y="3858768"/>
            <a:ext cx="237744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59717A"/>
                </a:solidFill>
                <a:latin typeface="Arial"/>
                <a:ea typeface="Arial"/>
                <a:cs typeface="Arial"/>
                <a:sym typeface="Arial"/>
              </a:rPr>
              <a:t>See the original sentence highlighted.</a:t>
            </a:r>
            <a:endParaRPr/>
          </a:p>
        </p:txBody>
      </p:sp>
      <p:sp>
        <p:nvSpPr>
          <p:cNvPr id="160" name="Google Shape;160;p15"/>
          <p:cNvSpPr/>
          <p:nvPr/>
        </p:nvSpPr>
        <p:spPr>
          <a:xfrm>
            <a:off x="8595360" y="4636008"/>
            <a:ext cx="384048" cy="310896"/>
          </a:xfrm>
          <a:prstGeom prst="roundRect">
            <a:avLst>
              <a:gd fmla="val 12000" name="adj"/>
            </a:avLst>
          </a:prstGeom>
          <a:solidFill>
            <a:srgbClr val="007D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5"/>
          <p:cNvSpPr txBox="1"/>
          <p:nvPr/>
        </p:nvSpPr>
        <p:spPr>
          <a:xfrm>
            <a:off x="8686800" y="4686300"/>
            <a:ext cx="201167"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FFFFFF"/>
                </a:solidFill>
                <a:latin typeface="Arial"/>
                <a:ea typeface="Arial"/>
                <a:cs typeface="Arial"/>
                <a:sym typeface="Arial"/>
              </a:rPr>
              <a:t>3</a:t>
            </a:r>
            <a:endParaRPr/>
          </a:p>
        </p:txBody>
      </p:sp>
      <p:sp>
        <p:nvSpPr>
          <p:cNvPr id="162" name="Google Shape;162;p15"/>
          <p:cNvSpPr txBox="1"/>
          <p:nvPr/>
        </p:nvSpPr>
        <p:spPr>
          <a:xfrm>
            <a:off x="9107424" y="4617720"/>
            <a:ext cx="2414016"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00" u="none" cap="none" strike="noStrike">
                <a:solidFill>
                  <a:srgbClr val="18333E"/>
                </a:solidFill>
                <a:latin typeface="Arial"/>
                <a:ea typeface="Arial"/>
                <a:cs typeface="Arial"/>
                <a:sym typeface="Arial"/>
              </a:rPr>
              <a:t>Inspect the source</a:t>
            </a:r>
            <a:endParaRPr/>
          </a:p>
        </p:txBody>
      </p:sp>
      <p:sp>
        <p:nvSpPr>
          <p:cNvPr id="163" name="Google Shape;163;p15"/>
          <p:cNvSpPr txBox="1"/>
          <p:nvPr/>
        </p:nvSpPr>
        <p:spPr>
          <a:xfrm>
            <a:off x="9107424" y="5093208"/>
            <a:ext cx="237744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59717A"/>
                </a:solidFill>
                <a:latin typeface="Arial"/>
                <a:ea typeface="Arial"/>
                <a:cs typeface="Arial"/>
                <a:sym typeface="Arial"/>
              </a:rPr>
              <a:t>Read the passage before relying on a tag.</a:t>
            </a:r>
            <a:endParaRPr/>
          </a:p>
        </p:txBody>
      </p:sp>
      <p:pic>
        <p:nvPicPr>
          <p:cNvPr id="164" name="Google Shape;164;p15"/>
          <p:cNvPicPr preferRelativeResize="0"/>
          <p:nvPr/>
        </p:nvPicPr>
        <p:blipFill rotWithShape="1">
          <a:blip r:embed="rId3">
            <a:alphaModFix/>
          </a:blip>
          <a:srcRect b="150" l="0" r="0" t="150"/>
          <a:stretch/>
        </p:blipFill>
        <p:spPr>
          <a:xfrm>
            <a:off x="742175" y="2029975"/>
            <a:ext cx="7423200" cy="4078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169" name="Shape 169"/>
        <p:cNvGrpSpPr/>
        <p:nvPr/>
      </p:nvGrpSpPr>
      <p:grpSpPr>
        <a:xfrm>
          <a:off x="0" y="0"/>
          <a:ext cx="0" cy="0"/>
          <a:chOff x="0" y="0"/>
          <a:chExt cx="0" cy="0"/>
        </a:xfrm>
      </p:grpSpPr>
      <p:sp>
        <p:nvSpPr>
          <p:cNvPr id="170" name="Google Shape;170;p16"/>
          <p:cNvSpPr txBox="1"/>
          <p:nvPr/>
        </p:nvSpPr>
        <p:spPr>
          <a:xfrm>
            <a:off x="502920" y="265176"/>
            <a:ext cx="8229600" cy="21945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03 / NLP METHOD</a:t>
            </a:r>
            <a:endParaRPr/>
          </a:p>
        </p:txBody>
      </p:sp>
      <p:sp>
        <p:nvSpPr>
          <p:cNvPr id="171" name="Google Shape;171;p16"/>
          <p:cNvSpPr txBox="1"/>
          <p:nvPr/>
        </p:nvSpPr>
        <p:spPr>
          <a:xfrm>
            <a:off x="502920" y="713232"/>
            <a:ext cx="1115568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00" u="none" cap="none" strike="noStrike">
                <a:solidFill>
                  <a:srgbClr val="18333E"/>
                </a:solidFill>
                <a:latin typeface="Arial"/>
                <a:ea typeface="Arial"/>
                <a:cs typeface="Arial"/>
                <a:sym typeface="Arial"/>
              </a:rPr>
              <a:t>A small, reproducible NLP pipeline that runs locally.</a:t>
            </a:r>
            <a:endParaRPr/>
          </a:p>
        </p:txBody>
      </p:sp>
      <p:sp>
        <p:nvSpPr>
          <p:cNvPr id="172" name="Google Shape;172;p16"/>
          <p:cNvSpPr txBox="1"/>
          <p:nvPr/>
        </p:nvSpPr>
        <p:spPr>
          <a:xfrm>
            <a:off x="502920" y="1399032"/>
            <a:ext cx="110642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9717A"/>
                </a:solidFill>
                <a:latin typeface="Arial"/>
                <a:ea typeface="Arial"/>
                <a:cs typeface="Arial"/>
                <a:sym typeface="Arial"/>
              </a:rPr>
              <a:t>Multi-label classification: one sentence can receive more than one category.</a:t>
            </a:r>
            <a:endParaRPr/>
          </a:p>
        </p:txBody>
      </p:sp>
      <p:sp>
        <p:nvSpPr>
          <p:cNvPr id="173" name="Google Shape;173;p16"/>
          <p:cNvSpPr/>
          <p:nvPr/>
        </p:nvSpPr>
        <p:spPr>
          <a:xfrm>
            <a:off x="502920" y="6409944"/>
            <a:ext cx="11155680" cy="10972"/>
          </a:xfrm>
          <a:prstGeom prst="rect">
            <a:avLst/>
          </a:prstGeom>
          <a:solidFill>
            <a:srgbClr val="CAD4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6"/>
          <p:cNvSpPr txBox="1"/>
          <p:nvPr/>
        </p:nvSpPr>
        <p:spPr>
          <a:xfrm>
            <a:off x="502920" y="6528816"/>
            <a:ext cx="274320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59717A"/>
                </a:solidFill>
                <a:latin typeface="Arial"/>
                <a:ea typeface="Arial"/>
                <a:cs typeface="Arial"/>
                <a:sym typeface="Arial"/>
              </a:rPr>
              <a:t>CLAUSEGUARD  /  MID-SEMESTER</a:t>
            </a:r>
            <a:endParaRPr/>
          </a:p>
        </p:txBody>
      </p:sp>
      <p:sp>
        <p:nvSpPr>
          <p:cNvPr id="175" name="Google Shape;175;p16"/>
          <p:cNvSpPr txBox="1"/>
          <p:nvPr/>
        </p:nvSpPr>
        <p:spPr>
          <a:xfrm>
            <a:off x="11292840" y="6501384"/>
            <a:ext cx="365760" cy="21945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000" u="none" cap="none" strike="noStrike">
                <a:solidFill>
                  <a:srgbClr val="59717A"/>
                </a:solidFill>
                <a:latin typeface="Arial"/>
                <a:ea typeface="Arial"/>
                <a:cs typeface="Arial"/>
                <a:sym typeface="Arial"/>
              </a:rPr>
              <a:t>04</a:t>
            </a:r>
            <a:endParaRPr/>
          </a:p>
        </p:txBody>
      </p:sp>
      <p:sp>
        <p:nvSpPr>
          <p:cNvPr id="176" name="Google Shape;176;p16"/>
          <p:cNvSpPr/>
          <p:nvPr/>
        </p:nvSpPr>
        <p:spPr>
          <a:xfrm>
            <a:off x="502920" y="2103120"/>
            <a:ext cx="1993392" cy="1353312"/>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6"/>
          <p:cNvSpPr txBox="1"/>
          <p:nvPr/>
        </p:nvSpPr>
        <p:spPr>
          <a:xfrm>
            <a:off x="649224" y="2258568"/>
            <a:ext cx="1700784" cy="3108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8333E"/>
                </a:solidFill>
                <a:latin typeface="Arial"/>
                <a:ea typeface="Arial"/>
                <a:cs typeface="Arial"/>
                <a:sym typeface="Arial"/>
              </a:rPr>
              <a:t>Input</a:t>
            </a:r>
            <a:endParaRPr/>
          </a:p>
        </p:txBody>
      </p:sp>
      <p:sp>
        <p:nvSpPr>
          <p:cNvPr id="178" name="Google Shape;178;p16"/>
          <p:cNvSpPr txBox="1"/>
          <p:nvPr/>
        </p:nvSpPr>
        <p:spPr>
          <a:xfrm>
            <a:off x="649224" y="2724912"/>
            <a:ext cx="1700784"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59717A"/>
                </a:solidFill>
                <a:latin typeface="Arial"/>
                <a:ea typeface="Arial"/>
                <a:cs typeface="Arial"/>
                <a:sym typeface="Arial"/>
              </a:rPr>
              <a:t>English text</a:t>
            </a:r>
            <a:endParaRPr/>
          </a:p>
        </p:txBody>
      </p:sp>
      <p:sp>
        <p:nvSpPr>
          <p:cNvPr id="179" name="Google Shape;179;p16"/>
          <p:cNvSpPr txBox="1"/>
          <p:nvPr/>
        </p:nvSpPr>
        <p:spPr>
          <a:xfrm>
            <a:off x="2514600" y="2514600"/>
            <a:ext cx="265176"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007D78"/>
                </a:solidFill>
                <a:latin typeface="Arial"/>
                <a:ea typeface="Arial"/>
                <a:cs typeface="Arial"/>
                <a:sym typeface="Arial"/>
              </a:rPr>
              <a:t>›</a:t>
            </a:r>
            <a:endParaRPr/>
          </a:p>
        </p:txBody>
      </p:sp>
      <p:sp>
        <p:nvSpPr>
          <p:cNvPr id="180" name="Google Shape;180;p16"/>
          <p:cNvSpPr/>
          <p:nvPr/>
        </p:nvSpPr>
        <p:spPr>
          <a:xfrm>
            <a:off x="2770632" y="2103120"/>
            <a:ext cx="1993392" cy="1353312"/>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16"/>
          <p:cNvSpPr txBox="1"/>
          <p:nvPr/>
        </p:nvSpPr>
        <p:spPr>
          <a:xfrm>
            <a:off x="2916936" y="2258568"/>
            <a:ext cx="1700784" cy="3108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8333E"/>
                </a:solidFill>
                <a:latin typeface="Arial"/>
                <a:ea typeface="Arial"/>
                <a:cs typeface="Arial"/>
                <a:sym typeface="Arial"/>
              </a:rPr>
              <a:t>Segment</a:t>
            </a:r>
            <a:endParaRPr/>
          </a:p>
        </p:txBody>
      </p:sp>
      <p:sp>
        <p:nvSpPr>
          <p:cNvPr id="182" name="Google Shape;182;p16"/>
          <p:cNvSpPr txBox="1"/>
          <p:nvPr/>
        </p:nvSpPr>
        <p:spPr>
          <a:xfrm>
            <a:off x="2916936" y="2724912"/>
            <a:ext cx="1700784"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59717A"/>
                </a:solidFill>
                <a:latin typeface="Arial"/>
                <a:ea typeface="Arial"/>
                <a:cs typeface="Arial"/>
                <a:sym typeface="Arial"/>
              </a:rPr>
              <a:t>Sentences + offsets</a:t>
            </a:r>
            <a:endParaRPr/>
          </a:p>
        </p:txBody>
      </p:sp>
      <p:sp>
        <p:nvSpPr>
          <p:cNvPr id="183" name="Google Shape;183;p16"/>
          <p:cNvSpPr txBox="1"/>
          <p:nvPr/>
        </p:nvSpPr>
        <p:spPr>
          <a:xfrm>
            <a:off x="4782312" y="2514600"/>
            <a:ext cx="265176"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007D78"/>
                </a:solidFill>
                <a:latin typeface="Arial"/>
                <a:ea typeface="Arial"/>
                <a:cs typeface="Arial"/>
                <a:sym typeface="Arial"/>
              </a:rPr>
              <a:t>›</a:t>
            </a:r>
            <a:endParaRPr/>
          </a:p>
        </p:txBody>
      </p:sp>
      <p:sp>
        <p:nvSpPr>
          <p:cNvPr id="184" name="Google Shape;184;p16"/>
          <p:cNvSpPr/>
          <p:nvPr/>
        </p:nvSpPr>
        <p:spPr>
          <a:xfrm>
            <a:off x="5038344" y="2103120"/>
            <a:ext cx="1993392" cy="1353312"/>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16"/>
          <p:cNvSpPr txBox="1"/>
          <p:nvPr/>
        </p:nvSpPr>
        <p:spPr>
          <a:xfrm>
            <a:off x="5184648" y="2258568"/>
            <a:ext cx="1700784" cy="3108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8333E"/>
                </a:solidFill>
                <a:latin typeface="Arial"/>
                <a:ea typeface="Arial"/>
                <a:cs typeface="Arial"/>
                <a:sym typeface="Arial"/>
              </a:rPr>
              <a:t>Represent</a:t>
            </a:r>
            <a:endParaRPr/>
          </a:p>
        </p:txBody>
      </p:sp>
      <p:sp>
        <p:nvSpPr>
          <p:cNvPr id="186" name="Google Shape;186;p16"/>
          <p:cNvSpPr txBox="1"/>
          <p:nvPr/>
        </p:nvSpPr>
        <p:spPr>
          <a:xfrm>
            <a:off x="5184648" y="2724912"/>
            <a:ext cx="1700784"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59717A"/>
                </a:solidFill>
                <a:latin typeface="Arial"/>
                <a:ea typeface="Arial"/>
                <a:cs typeface="Arial"/>
                <a:sym typeface="Arial"/>
              </a:rPr>
              <a:t>Word + character</a:t>
            </a:r>
            <a:endParaRPr/>
          </a:p>
          <a:p>
            <a:pPr indent="0" lvl="0" marL="0" marR="0" rtl="0" algn="l">
              <a:spcBef>
                <a:spcPts val="600"/>
              </a:spcBef>
              <a:spcAft>
                <a:spcPts val="0"/>
              </a:spcAft>
              <a:buNone/>
            </a:pPr>
            <a:r>
              <a:rPr b="0" i="0" lang="en-US" sz="1500" u="none" cap="none" strike="noStrike">
                <a:solidFill>
                  <a:srgbClr val="59717A"/>
                </a:solidFill>
                <a:latin typeface="Arial"/>
                <a:ea typeface="Arial"/>
                <a:cs typeface="Arial"/>
                <a:sym typeface="Arial"/>
              </a:rPr>
              <a:t>TF-IDF</a:t>
            </a:r>
            <a:endParaRPr/>
          </a:p>
        </p:txBody>
      </p:sp>
      <p:sp>
        <p:nvSpPr>
          <p:cNvPr id="187" name="Google Shape;187;p16"/>
          <p:cNvSpPr txBox="1"/>
          <p:nvPr/>
        </p:nvSpPr>
        <p:spPr>
          <a:xfrm>
            <a:off x="7050024" y="2514600"/>
            <a:ext cx="265176"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007D78"/>
                </a:solidFill>
                <a:latin typeface="Arial"/>
                <a:ea typeface="Arial"/>
                <a:cs typeface="Arial"/>
                <a:sym typeface="Arial"/>
              </a:rPr>
              <a:t>›</a:t>
            </a:r>
            <a:endParaRPr/>
          </a:p>
        </p:txBody>
      </p:sp>
      <p:sp>
        <p:nvSpPr>
          <p:cNvPr id="188" name="Google Shape;188;p16"/>
          <p:cNvSpPr/>
          <p:nvPr/>
        </p:nvSpPr>
        <p:spPr>
          <a:xfrm>
            <a:off x="7306055" y="2103120"/>
            <a:ext cx="1993392" cy="1353312"/>
          </a:xfrm>
          <a:prstGeom prst="roundRect">
            <a:avLst>
              <a:gd fmla="val 12000" name="adj"/>
            </a:avLst>
          </a:prstGeom>
          <a:solidFill>
            <a:srgbClr val="007D7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16"/>
          <p:cNvSpPr txBox="1"/>
          <p:nvPr/>
        </p:nvSpPr>
        <p:spPr>
          <a:xfrm>
            <a:off x="7452359" y="2258568"/>
            <a:ext cx="1700784" cy="3108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FFFFFF"/>
                </a:solidFill>
                <a:latin typeface="Arial"/>
                <a:ea typeface="Arial"/>
                <a:cs typeface="Arial"/>
                <a:sym typeface="Arial"/>
              </a:rPr>
              <a:t>Classify</a:t>
            </a:r>
            <a:endParaRPr/>
          </a:p>
        </p:txBody>
      </p:sp>
      <p:sp>
        <p:nvSpPr>
          <p:cNvPr id="190" name="Google Shape;190;p16"/>
          <p:cNvSpPr txBox="1"/>
          <p:nvPr/>
        </p:nvSpPr>
        <p:spPr>
          <a:xfrm>
            <a:off x="7452359" y="2724912"/>
            <a:ext cx="1700784"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E8DE"/>
                </a:solidFill>
                <a:latin typeface="Arial"/>
                <a:ea typeface="Arial"/>
                <a:cs typeface="Arial"/>
                <a:sym typeface="Arial"/>
              </a:rPr>
              <a:t>8 balanced logistic</a:t>
            </a:r>
            <a:endParaRPr/>
          </a:p>
          <a:p>
            <a:pPr indent="0" lvl="0" marL="0" marR="0" rtl="0" algn="l">
              <a:spcBef>
                <a:spcPts val="600"/>
              </a:spcBef>
              <a:spcAft>
                <a:spcPts val="0"/>
              </a:spcAft>
              <a:buNone/>
            </a:pPr>
            <a:r>
              <a:rPr b="0" i="0" lang="en-US" sz="1500" u="none" cap="none" strike="noStrike">
                <a:solidFill>
                  <a:srgbClr val="CBE8DE"/>
                </a:solidFill>
                <a:latin typeface="Arial"/>
                <a:ea typeface="Arial"/>
                <a:cs typeface="Arial"/>
                <a:sym typeface="Arial"/>
              </a:rPr>
              <a:t>regressions</a:t>
            </a:r>
            <a:endParaRPr/>
          </a:p>
        </p:txBody>
      </p:sp>
      <p:sp>
        <p:nvSpPr>
          <p:cNvPr id="191" name="Google Shape;191;p16"/>
          <p:cNvSpPr txBox="1"/>
          <p:nvPr/>
        </p:nvSpPr>
        <p:spPr>
          <a:xfrm>
            <a:off x="9317736" y="2514600"/>
            <a:ext cx="265176"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007D78"/>
                </a:solidFill>
                <a:latin typeface="Arial"/>
                <a:ea typeface="Arial"/>
                <a:cs typeface="Arial"/>
                <a:sym typeface="Arial"/>
              </a:rPr>
              <a:t>›</a:t>
            </a:r>
            <a:endParaRPr/>
          </a:p>
        </p:txBody>
      </p:sp>
      <p:sp>
        <p:nvSpPr>
          <p:cNvPr id="192" name="Google Shape;192;p16"/>
          <p:cNvSpPr/>
          <p:nvPr/>
        </p:nvSpPr>
        <p:spPr>
          <a:xfrm>
            <a:off x="9573768" y="2103120"/>
            <a:ext cx="1993392" cy="1353312"/>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16"/>
          <p:cNvSpPr txBox="1"/>
          <p:nvPr/>
        </p:nvSpPr>
        <p:spPr>
          <a:xfrm>
            <a:off x="9720072" y="2258568"/>
            <a:ext cx="1700784" cy="3108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8333E"/>
                </a:solidFill>
                <a:latin typeface="Arial"/>
                <a:ea typeface="Arial"/>
                <a:cs typeface="Arial"/>
                <a:sym typeface="Arial"/>
              </a:rPr>
              <a:t>Review</a:t>
            </a:r>
            <a:endParaRPr/>
          </a:p>
        </p:txBody>
      </p:sp>
      <p:sp>
        <p:nvSpPr>
          <p:cNvPr id="194" name="Google Shape;194;p16"/>
          <p:cNvSpPr txBox="1"/>
          <p:nvPr/>
        </p:nvSpPr>
        <p:spPr>
          <a:xfrm>
            <a:off x="9720072" y="2724912"/>
            <a:ext cx="1700784"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59717A"/>
                </a:solidFill>
                <a:latin typeface="Arial"/>
                <a:ea typeface="Arial"/>
                <a:cs typeface="Arial"/>
                <a:sym typeface="Arial"/>
              </a:rPr>
              <a:t>Labels + exact</a:t>
            </a:r>
            <a:endParaRPr/>
          </a:p>
          <a:p>
            <a:pPr indent="0" lvl="0" marL="0" marR="0" rtl="0" algn="l">
              <a:spcBef>
                <a:spcPts val="600"/>
              </a:spcBef>
              <a:spcAft>
                <a:spcPts val="0"/>
              </a:spcAft>
              <a:buNone/>
            </a:pPr>
            <a:r>
              <a:rPr b="0" i="0" lang="en-US" sz="1500" u="none" cap="none" strike="noStrike">
                <a:solidFill>
                  <a:srgbClr val="59717A"/>
                </a:solidFill>
                <a:latin typeface="Arial"/>
                <a:ea typeface="Arial"/>
                <a:cs typeface="Arial"/>
                <a:sym typeface="Arial"/>
              </a:rPr>
              <a:t>source passage</a:t>
            </a:r>
            <a:endParaRPr/>
          </a:p>
        </p:txBody>
      </p:sp>
      <p:sp>
        <p:nvSpPr>
          <p:cNvPr id="195" name="Google Shape;195;p16"/>
          <p:cNvSpPr txBox="1"/>
          <p:nvPr/>
        </p:nvSpPr>
        <p:spPr>
          <a:xfrm>
            <a:off x="502920" y="3730752"/>
            <a:ext cx="110642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UNFAIR-ToS / LexGLUE  •  OFFICIAL COMPANY-SEPARATED SPLITS</a:t>
            </a:r>
            <a:endParaRPr/>
          </a:p>
        </p:txBody>
      </p:sp>
      <p:sp>
        <p:nvSpPr>
          <p:cNvPr id="196" name="Google Shape;196;p16"/>
          <p:cNvSpPr/>
          <p:nvPr/>
        </p:nvSpPr>
        <p:spPr>
          <a:xfrm>
            <a:off x="502920" y="4133087"/>
            <a:ext cx="3602736" cy="1143000"/>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16"/>
          <p:cNvSpPr txBox="1"/>
          <p:nvPr/>
        </p:nvSpPr>
        <p:spPr>
          <a:xfrm>
            <a:off x="685800" y="4343400"/>
            <a:ext cx="1600200" cy="52120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18333E"/>
                </a:solidFill>
                <a:latin typeface="Arial"/>
                <a:ea typeface="Arial"/>
                <a:cs typeface="Arial"/>
                <a:sym typeface="Arial"/>
              </a:rPr>
              <a:t>5,532</a:t>
            </a:r>
            <a:endParaRPr/>
          </a:p>
        </p:txBody>
      </p:sp>
      <p:sp>
        <p:nvSpPr>
          <p:cNvPr id="198" name="Google Shape;198;p16"/>
          <p:cNvSpPr txBox="1"/>
          <p:nvPr/>
        </p:nvSpPr>
        <p:spPr>
          <a:xfrm>
            <a:off x="2377439" y="4352544"/>
            <a:ext cx="157276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TRAIN</a:t>
            </a:r>
            <a:endParaRPr/>
          </a:p>
        </p:txBody>
      </p:sp>
      <p:sp>
        <p:nvSpPr>
          <p:cNvPr id="199" name="Google Shape;199;p16"/>
          <p:cNvSpPr txBox="1"/>
          <p:nvPr/>
        </p:nvSpPr>
        <p:spPr>
          <a:xfrm>
            <a:off x="2377439" y="4681728"/>
            <a:ext cx="1572768" cy="44805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59717A"/>
                </a:solidFill>
                <a:latin typeface="Arial"/>
                <a:ea typeface="Arial"/>
                <a:cs typeface="Arial"/>
                <a:sym typeface="Arial"/>
              </a:rPr>
              <a:t>30 companies</a:t>
            </a:r>
            <a:endParaRPr/>
          </a:p>
        </p:txBody>
      </p:sp>
      <p:sp>
        <p:nvSpPr>
          <p:cNvPr id="200" name="Google Shape;200;p16"/>
          <p:cNvSpPr/>
          <p:nvPr/>
        </p:nvSpPr>
        <p:spPr>
          <a:xfrm>
            <a:off x="4279392" y="4133087"/>
            <a:ext cx="3602736" cy="1143000"/>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16"/>
          <p:cNvSpPr txBox="1"/>
          <p:nvPr/>
        </p:nvSpPr>
        <p:spPr>
          <a:xfrm>
            <a:off x="4462272" y="4343400"/>
            <a:ext cx="1600200" cy="52120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18333E"/>
                </a:solidFill>
                <a:latin typeface="Arial"/>
                <a:ea typeface="Arial"/>
                <a:cs typeface="Arial"/>
                <a:sym typeface="Arial"/>
              </a:rPr>
              <a:t>2,275</a:t>
            </a:r>
            <a:endParaRPr/>
          </a:p>
        </p:txBody>
      </p:sp>
      <p:sp>
        <p:nvSpPr>
          <p:cNvPr id="202" name="Google Shape;202;p16"/>
          <p:cNvSpPr txBox="1"/>
          <p:nvPr/>
        </p:nvSpPr>
        <p:spPr>
          <a:xfrm>
            <a:off x="6153912" y="4352544"/>
            <a:ext cx="157276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VALIDATION</a:t>
            </a:r>
            <a:endParaRPr/>
          </a:p>
        </p:txBody>
      </p:sp>
      <p:sp>
        <p:nvSpPr>
          <p:cNvPr id="203" name="Google Shape;203;p16"/>
          <p:cNvSpPr txBox="1"/>
          <p:nvPr/>
        </p:nvSpPr>
        <p:spPr>
          <a:xfrm>
            <a:off x="6153912" y="4681728"/>
            <a:ext cx="1572768" cy="44805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59717A"/>
                </a:solidFill>
                <a:latin typeface="Arial"/>
                <a:ea typeface="Arial"/>
                <a:cs typeface="Arial"/>
                <a:sym typeface="Arial"/>
              </a:rPr>
              <a:t>10 different companies</a:t>
            </a:r>
            <a:endParaRPr/>
          </a:p>
        </p:txBody>
      </p:sp>
      <p:sp>
        <p:nvSpPr>
          <p:cNvPr id="204" name="Google Shape;204;p16"/>
          <p:cNvSpPr/>
          <p:nvPr/>
        </p:nvSpPr>
        <p:spPr>
          <a:xfrm>
            <a:off x="8055864" y="4133087"/>
            <a:ext cx="3602736" cy="1143000"/>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16"/>
          <p:cNvSpPr txBox="1"/>
          <p:nvPr/>
        </p:nvSpPr>
        <p:spPr>
          <a:xfrm>
            <a:off x="8238744" y="4343400"/>
            <a:ext cx="1600200" cy="52120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200" u="none" cap="none" strike="noStrike">
                <a:solidFill>
                  <a:srgbClr val="18333E"/>
                </a:solidFill>
                <a:latin typeface="Arial"/>
                <a:ea typeface="Arial"/>
                <a:cs typeface="Arial"/>
                <a:sym typeface="Arial"/>
              </a:rPr>
              <a:t>1,607</a:t>
            </a:r>
            <a:endParaRPr/>
          </a:p>
        </p:txBody>
      </p:sp>
      <p:sp>
        <p:nvSpPr>
          <p:cNvPr id="206" name="Google Shape;206;p16"/>
          <p:cNvSpPr txBox="1"/>
          <p:nvPr/>
        </p:nvSpPr>
        <p:spPr>
          <a:xfrm>
            <a:off x="9930384" y="4352544"/>
            <a:ext cx="157276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RESERVED TEST</a:t>
            </a:r>
            <a:endParaRPr/>
          </a:p>
        </p:txBody>
      </p:sp>
      <p:sp>
        <p:nvSpPr>
          <p:cNvPr id="207" name="Google Shape;207;p16"/>
          <p:cNvSpPr txBox="1"/>
          <p:nvPr/>
        </p:nvSpPr>
        <p:spPr>
          <a:xfrm>
            <a:off x="9930384" y="4681728"/>
            <a:ext cx="1572768" cy="44805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59717A"/>
                </a:solidFill>
                <a:latin typeface="Arial"/>
                <a:ea typeface="Arial"/>
                <a:cs typeface="Arial"/>
                <a:sym typeface="Arial"/>
              </a:rPr>
              <a:t>Not evaluated</a:t>
            </a:r>
            <a:endParaRPr/>
          </a:p>
        </p:txBody>
      </p:sp>
      <p:sp>
        <p:nvSpPr>
          <p:cNvPr id="208" name="Google Shape;208;p16"/>
          <p:cNvSpPr txBox="1"/>
          <p:nvPr/>
        </p:nvSpPr>
        <p:spPr>
          <a:xfrm>
            <a:off x="502920" y="5586984"/>
            <a:ext cx="10972800" cy="4663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9717A"/>
                </a:solidFill>
                <a:latin typeface="Arial"/>
                <a:ea typeface="Arial"/>
                <a:cs typeface="Arial"/>
                <a:sym typeface="Arial"/>
              </a:rPr>
              <a:t>Shipped: word n-grams 1–2 + character n-grams 3–5; fixed threshold &gt; 0.5.</a:t>
            </a:r>
            <a:endParaRPr/>
          </a:p>
          <a:p>
            <a:pPr indent="0" lvl="0" marL="0" marR="0" rtl="0" algn="l">
              <a:spcBef>
                <a:spcPts val="600"/>
              </a:spcBef>
              <a:spcAft>
                <a:spcPts val="0"/>
              </a:spcAft>
              <a:buNone/>
            </a:pPr>
            <a:r>
              <a:rPr b="0" i="0" lang="en-US" sz="1600" u="none" cap="none" strike="noStrike">
                <a:solidFill>
                  <a:srgbClr val="59717A"/>
                </a:solidFill>
                <a:latin typeface="Arial"/>
                <a:ea typeface="Arial"/>
                <a:cs typeface="Arial"/>
                <a:sym typeface="Arial"/>
              </a:rPr>
              <a:t>No runtime API calls. The app and evaluation use the same model artifact.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213" name="Shape 213"/>
        <p:cNvGrpSpPr/>
        <p:nvPr/>
      </p:nvGrpSpPr>
      <p:grpSpPr>
        <a:xfrm>
          <a:off x="0" y="0"/>
          <a:ext cx="0" cy="0"/>
          <a:chOff x="0" y="0"/>
          <a:chExt cx="0" cy="0"/>
        </a:xfrm>
      </p:grpSpPr>
      <p:sp>
        <p:nvSpPr>
          <p:cNvPr id="214" name="Google Shape;214;p17"/>
          <p:cNvSpPr txBox="1"/>
          <p:nvPr/>
        </p:nvSpPr>
        <p:spPr>
          <a:xfrm>
            <a:off x="502920" y="265176"/>
            <a:ext cx="8229600" cy="21945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04 / VALIDATION RESULTS</a:t>
            </a:r>
            <a:endParaRPr/>
          </a:p>
        </p:txBody>
      </p:sp>
      <p:sp>
        <p:nvSpPr>
          <p:cNvPr id="215" name="Google Shape;215;p17"/>
          <p:cNvSpPr txBox="1"/>
          <p:nvPr/>
        </p:nvSpPr>
        <p:spPr>
          <a:xfrm>
            <a:off x="502920" y="713232"/>
            <a:ext cx="1115568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00" u="none" cap="none" strike="noStrike">
                <a:solidFill>
                  <a:srgbClr val="18333E"/>
                </a:solidFill>
                <a:latin typeface="Arial"/>
                <a:ea typeface="Arial"/>
                <a:cs typeface="Arial"/>
                <a:sym typeface="Arial"/>
              </a:rPr>
              <a:t>The shipped hybrid model beats our unigram baseline.</a:t>
            </a:r>
            <a:endParaRPr/>
          </a:p>
        </p:txBody>
      </p:sp>
      <p:sp>
        <p:nvSpPr>
          <p:cNvPr id="216" name="Google Shape;216;p17"/>
          <p:cNvSpPr txBox="1"/>
          <p:nvPr/>
        </p:nvSpPr>
        <p:spPr>
          <a:xfrm>
            <a:off x="502920" y="1399032"/>
            <a:ext cx="110642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9717A"/>
                </a:solidFill>
                <a:latin typeface="Arial"/>
                <a:ea typeface="Arial"/>
                <a:cs typeface="Arial"/>
                <a:sym typeface="Arial"/>
              </a:rPr>
              <a:t>Eight-category macro-F1 on the same 2,275 validation sentences; higher is better.</a:t>
            </a:r>
            <a:endParaRPr/>
          </a:p>
        </p:txBody>
      </p:sp>
      <p:sp>
        <p:nvSpPr>
          <p:cNvPr id="217" name="Google Shape;217;p17"/>
          <p:cNvSpPr/>
          <p:nvPr/>
        </p:nvSpPr>
        <p:spPr>
          <a:xfrm>
            <a:off x="502920" y="6409944"/>
            <a:ext cx="11155680" cy="10972"/>
          </a:xfrm>
          <a:prstGeom prst="rect">
            <a:avLst/>
          </a:prstGeom>
          <a:solidFill>
            <a:srgbClr val="CAD4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17"/>
          <p:cNvSpPr txBox="1"/>
          <p:nvPr/>
        </p:nvSpPr>
        <p:spPr>
          <a:xfrm>
            <a:off x="502920" y="6528816"/>
            <a:ext cx="274320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59717A"/>
                </a:solidFill>
                <a:latin typeface="Arial"/>
                <a:ea typeface="Arial"/>
                <a:cs typeface="Arial"/>
                <a:sym typeface="Arial"/>
              </a:rPr>
              <a:t>CLAUSEGUARD  /  MID-SEMESTER</a:t>
            </a:r>
            <a:endParaRPr/>
          </a:p>
        </p:txBody>
      </p:sp>
      <p:sp>
        <p:nvSpPr>
          <p:cNvPr id="219" name="Google Shape;219;p17"/>
          <p:cNvSpPr txBox="1"/>
          <p:nvPr/>
        </p:nvSpPr>
        <p:spPr>
          <a:xfrm>
            <a:off x="11292840" y="6501384"/>
            <a:ext cx="365760" cy="21945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000" u="none" cap="none" strike="noStrike">
                <a:solidFill>
                  <a:srgbClr val="59717A"/>
                </a:solidFill>
                <a:latin typeface="Arial"/>
                <a:ea typeface="Arial"/>
                <a:cs typeface="Arial"/>
                <a:sym typeface="Arial"/>
              </a:rPr>
              <a:t>05</a:t>
            </a:r>
            <a:endParaRPr/>
          </a:p>
        </p:txBody>
      </p:sp>
      <p:pic>
        <p:nvPicPr>
          <p:cNvPr id="220" name="Google Shape;220;p17"/>
          <p:cNvPicPr preferRelativeResize="0"/>
          <p:nvPr/>
        </p:nvPicPr>
        <p:blipFill rotWithShape="1">
          <a:blip r:embed="rId3">
            <a:alphaModFix/>
          </a:blip>
          <a:srcRect b="0" l="0" r="0" t="0"/>
          <a:stretch/>
        </p:blipFill>
        <p:spPr>
          <a:xfrm>
            <a:off x="566928" y="2121408"/>
            <a:ext cx="7406640" cy="3593592"/>
          </a:xfrm>
          <a:prstGeom prst="rect">
            <a:avLst/>
          </a:prstGeom>
          <a:noFill/>
          <a:ln>
            <a:noFill/>
          </a:ln>
        </p:spPr>
      </p:pic>
      <p:sp>
        <p:nvSpPr>
          <p:cNvPr id="221" name="Google Shape;221;p17"/>
          <p:cNvSpPr/>
          <p:nvPr/>
        </p:nvSpPr>
        <p:spPr>
          <a:xfrm>
            <a:off x="8247888" y="2157984"/>
            <a:ext cx="3392424" cy="1417320"/>
          </a:xfrm>
          <a:prstGeom prst="roundRect">
            <a:avLst>
              <a:gd fmla="val 12000" name="adj"/>
            </a:avLst>
          </a:prstGeom>
          <a:solidFill>
            <a:srgbClr val="132A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17"/>
          <p:cNvSpPr txBox="1"/>
          <p:nvPr/>
        </p:nvSpPr>
        <p:spPr>
          <a:xfrm>
            <a:off x="8467344" y="2377440"/>
            <a:ext cx="2871216" cy="6217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700" u="none" cap="none" strike="noStrike">
                <a:solidFill>
                  <a:srgbClr val="FFFFFF"/>
                </a:solidFill>
                <a:latin typeface="Arial"/>
                <a:ea typeface="Arial"/>
                <a:cs typeface="Arial"/>
                <a:sym typeface="Arial"/>
              </a:rPr>
              <a:t>+0.3782</a:t>
            </a:r>
            <a:endParaRPr/>
          </a:p>
        </p:txBody>
      </p:sp>
      <p:sp>
        <p:nvSpPr>
          <p:cNvPr id="223" name="Google Shape;223;p17"/>
          <p:cNvSpPr txBox="1"/>
          <p:nvPr/>
        </p:nvSpPr>
        <p:spPr>
          <a:xfrm>
            <a:off x="8467344" y="3017520"/>
            <a:ext cx="2871216"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CBE8DE"/>
                </a:solidFill>
                <a:latin typeface="Arial"/>
                <a:ea typeface="Arial"/>
                <a:cs typeface="Arial"/>
                <a:sym typeface="Arial"/>
              </a:rPr>
              <a:t>absolute macro-F1 gain</a:t>
            </a:r>
            <a:endParaRPr/>
          </a:p>
        </p:txBody>
      </p:sp>
      <p:sp>
        <p:nvSpPr>
          <p:cNvPr id="224" name="Google Shape;224;p17"/>
          <p:cNvSpPr txBox="1"/>
          <p:nvPr/>
        </p:nvSpPr>
        <p:spPr>
          <a:xfrm>
            <a:off x="8266175" y="3886200"/>
            <a:ext cx="3364992"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MICRO-F1  •  8 CATEGORIES</a:t>
            </a:r>
            <a:endParaRPr/>
          </a:p>
        </p:txBody>
      </p:sp>
      <p:sp>
        <p:nvSpPr>
          <p:cNvPr id="225" name="Google Shape;225;p17"/>
          <p:cNvSpPr txBox="1"/>
          <p:nvPr/>
        </p:nvSpPr>
        <p:spPr>
          <a:xfrm>
            <a:off x="8266175" y="4352544"/>
            <a:ext cx="20116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18333E"/>
                </a:solidFill>
                <a:latin typeface="Arial"/>
                <a:ea typeface="Arial"/>
                <a:cs typeface="Arial"/>
                <a:sym typeface="Arial"/>
              </a:rPr>
              <a:t>Baseline</a:t>
            </a:r>
            <a:endParaRPr/>
          </a:p>
        </p:txBody>
      </p:sp>
      <p:sp>
        <p:nvSpPr>
          <p:cNvPr id="226" name="Google Shape;226;p17"/>
          <p:cNvSpPr txBox="1"/>
          <p:nvPr/>
        </p:nvSpPr>
        <p:spPr>
          <a:xfrm>
            <a:off x="10387584" y="4352544"/>
            <a:ext cx="1042415"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600" u="none" cap="none" strike="noStrike">
                <a:solidFill>
                  <a:srgbClr val="007D78"/>
                </a:solidFill>
                <a:latin typeface="Arial"/>
                <a:ea typeface="Arial"/>
                <a:cs typeface="Arial"/>
                <a:sym typeface="Arial"/>
              </a:rPr>
              <a:t>0.3300</a:t>
            </a:r>
            <a:endParaRPr/>
          </a:p>
        </p:txBody>
      </p:sp>
      <p:sp>
        <p:nvSpPr>
          <p:cNvPr id="227" name="Google Shape;227;p17"/>
          <p:cNvSpPr txBox="1"/>
          <p:nvPr/>
        </p:nvSpPr>
        <p:spPr>
          <a:xfrm>
            <a:off x="8266175" y="4791456"/>
            <a:ext cx="20116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18333E"/>
                </a:solidFill>
                <a:latin typeface="Arial"/>
                <a:ea typeface="Arial"/>
                <a:cs typeface="Arial"/>
                <a:sym typeface="Arial"/>
              </a:rPr>
              <a:t>Balanced</a:t>
            </a:r>
            <a:endParaRPr/>
          </a:p>
        </p:txBody>
      </p:sp>
      <p:sp>
        <p:nvSpPr>
          <p:cNvPr id="228" name="Google Shape;228;p17"/>
          <p:cNvSpPr txBox="1"/>
          <p:nvPr/>
        </p:nvSpPr>
        <p:spPr>
          <a:xfrm>
            <a:off x="10387584" y="4791456"/>
            <a:ext cx="1042415"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600" u="none" cap="none" strike="noStrike">
                <a:solidFill>
                  <a:srgbClr val="007D78"/>
                </a:solidFill>
                <a:latin typeface="Arial"/>
                <a:ea typeface="Arial"/>
                <a:cs typeface="Arial"/>
                <a:sym typeface="Arial"/>
              </a:rPr>
              <a:t>0.6084</a:t>
            </a:r>
            <a:endParaRPr/>
          </a:p>
        </p:txBody>
      </p:sp>
      <p:sp>
        <p:nvSpPr>
          <p:cNvPr id="229" name="Google Shape;229;p17"/>
          <p:cNvSpPr txBox="1"/>
          <p:nvPr/>
        </p:nvSpPr>
        <p:spPr>
          <a:xfrm>
            <a:off x="8266175" y="5230368"/>
            <a:ext cx="20116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18333E"/>
                </a:solidFill>
                <a:latin typeface="Arial"/>
                <a:ea typeface="Arial"/>
                <a:cs typeface="Arial"/>
                <a:sym typeface="Arial"/>
              </a:rPr>
              <a:t>Hybrid</a:t>
            </a:r>
            <a:endParaRPr/>
          </a:p>
        </p:txBody>
      </p:sp>
      <p:sp>
        <p:nvSpPr>
          <p:cNvPr id="230" name="Google Shape;230;p17"/>
          <p:cNvSpPr txBox="1"/>
          <p:nvPr/>
        </p:nvSpPr>
        <p:spPr>
          <a:xfrm>
            <a:off x="10387584" y="5230368"/>
            <a:ext cx="1042415" cy="27432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600" u="none" cap="none" strike="noStrike">
                <a:solidFill>
                  <a:srgbClr val="007D78"/>
                </a:solidFill>
                <a:latin typeface="Arial"/>
                <a:ea typeface="Arial"/>
                <a:cs typeface="Arial"/>
                <a:sym typeface="Arial"/>
              </a:rPr>
              <a:t>0.6275</a:t>
            </a:r>
            <a:endParaRPr/>
          </a:p>
        </p:txBody>
      </p:sp>
      <p:sp>
        <p:nvSpPr>
          <p:cNvPr id="231" name="Google Shape;231;p17"/>
          <p:cNvSpPr txBox="1"/>
          <p:nvPr/>
        </p:nvSpPr>
        <p:spPr>
          <a:xfrm>
            <a:off x="594360" y="5843016"/>
            <a:ext cx="10972800" cy="32918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59717A"/>
                </a:solidFill>
                <a:latin typeface="Arial"/>
                <a:ea typeface="Arial"/>
                <a:cs typeface="Arial"/>
                <a:sym typeface="Arial"/>
              </a:rPr>
              <a:t>Macro-F1 weights all eight categories equally. These are model comparisons, not weekly gains.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236" name="Shape 236"/>
        <p:cNvGrpSpPr/>
        <p:nvPr/>
      </p:nvGrpSpPr>
      <p:grpSpPr>
        <a:xfrm>
          <a:off x="0" y="0"/>
          <a:ext cx="0" cy="0"/>
          <a:chOff x="0" y="0"/>
          <a:chExt cx="0" cy="0"/>
        </a:xfrm>
      </p:grpSpPr>
      <p:sp>
        <p:nvSpPr>
          <p:cNvPr id="237" name="Google Shape;237;p18"/>
          <p:cNvSpPr txBox="1"/>
          <p:nvPr/>
        </p:nvSpPr>
        <p:spPr>
          <a:xfrm>
            <a:off x="502920" y="265176"/>
            <a:ext cx="8229600" cy="21945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05 / ERROR ANALYSIS</a:t>
            </a:r>
            <a:endParaRPr/>
          </a:p>
        </p:txBody>
      </p:sp>
      <p:sp>
        <p:nvSpPr>
          <p:cNvPr id="238" name="Google Shape;238;p18"/>
          <p:cNvSpPr txBox="1"/>
          <p:nvPr/>
        </p:nvSpPr>
        <p:spPr>
          <a:xfrm>
            <a:off x="502920" y="713232"/>
            <a:ext cx="1115568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00" u="none" cap="none" strike="noStrike">
                <a:solidFill>
                  <a:srgbClr val="18333E"/>
                </a:solidFill>
                <a:latin typeface="Arial"/>
                <a:ea typeface="Arial"/>
                <a:cs typeface="Arial"/>
                <a:sym typeface="Arial"/>
              </a:rPr>
              <a:t>The main failure is too many tags on a sentence.</a:t>
            </a:r>
            <a:endParaRPr/>
          </a:p>
        </p:txBody>
      </p:sp>
      <p:sp>
        <p:nvSpPr>
          <p:cNvPr id="239" name="Google Shape;239;p18"/>
          <p:cNvSpPr txBox="1"/>
          <p:nvPr/>
        </p:nvSpPr>
        <p:spPr>
          <a:xfrm>
            <a:off x="502920" y="1399032"/>
            <a:ext cx="110642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9717A"/>
                </a:solidFill>
                <a:latin typeface="Arial"/>
                <a:ea typeface="Arial"/>
                <a:cs typeface="Arial"/>
                <a:sym typeface="Arial"/>
              </a:rPr>
              <a:t>A category prediction is a review cue; it can be wrong.</a:t>
            </a:r>
            <a:endParaRPr/>
          </a:p>
        </p:txBody>
      </p:sp>
      <p:sp>
        <p:nvSpPr>
          <p:cNvPr id="240" name="Google Shape;240;p18"/>
          <p:cNvSpPr/>
          <p:nvPr/>
        </p:nvSpPr>
        <p:spPr>
          <a:xfrm>
            <a:off x="502920" y="6409944"/>
            <a:ext cx="11155680" cy="10972"/>
          </a:xfrm>
          <a:prstGeom prst="rect">
            <a:avLst/>
          </a:prstGeom>
          <a:solidFill>
            <a:srgbClr val="CAD4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1" name="Google Shape;241;p18"/>
          <p:cNvSpPr txBox="1"/>
          <p:nvPr/>
        </p:nvSpPr>
        <p:spPr>
          <a:xfrm>
            <a:off x="502920" y="6528816"/>
            <a:ext cx="274320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59717A"/>
                </a:solidFill>
                <a:latin typeface="Arial"/>
                <a:ea typeface="Arial"/>
                <a:cs typeface="Arial"/>
                <a:sym typeface="Arial"/>
              </a:rPr>
              <a:t>CLAUSEGUARD  /  MID-SEMESTER</a:t>
            </a:r>
            <a:endParaRPr/>
          </a:p>
        </p:txBody>
      </p:sp>
      <p:sp>
        <p:nvSpPr>
          <p:cNvPr id="242" name="Google Shape;242;p18"/>
          <p:cNvSpPr txBox="1"/>
          <p:nvPr/>
        </p:nvSpPr>
        <p:spPr>
          <a:xfrm>
            <a:off x="11292840" y="6501384"/>
            <a:ext cx="365760" cy="21945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000" u="none" cap="none" strike="noStrike">
                <a:solidFill>
                  <a:srgbClr val="59717A"/>
                </a:solidFill>
                <a:latin typeface="Arial"/>
                <a:ea typeface="Arial"/>
                <a:cs typeface="Arial"/>
                <a:sym typeface="Arial"/>
              </a:rPr>
              <a:t>06</a:t>
            </a:r>
            <a:endParaRPr/>
          </a:p>
        </p:txBody>
      </p:sp>
      <p:sp>
        <p:nvSpPr>
          <p:cNvPr id="243" name="Google Shape;243;p18"/>
          <p:cNvSpPr/>
          <p:nvPr/>
        </p:nvSpPr>
        <p:spPr>
          <a:xfrm>
            <a:off x="502920" y="2075688"/>
            <a:ext cx="7223760" cy="3108960"/>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18"/>
          <p:cNvSpPr txBox="1"/>
          <p:nvPr/>
        </p:nvSpPr>
        <p:spPr>
          <a:xfrm>
            <a:off x="740664" y="2295144"/>
            <a:ext cx="65836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FICTIONAL STUDY DOCUMENT C • TASK C1</a:t>
            </a:r>
            <a:endParaRPr/>
          </a:p>
        </p:txBody>
      </p:sp>
      <p:sp>
        <p:nvSpPr>
          <p:cNvPr id="245" name="Google Shape;245;p18"/>
          <p:cNvSpPr txBox="1"/>
          <p:nvPr/>
        </p:nvSpPr>
        <p:spPr>
          <a:xfrm>
            <a:off x="740664" y="2761488"/>
            <a:ext cx="6583680" cy="10058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00" u="none" cap="none" strike="noStrike">
                <a:solidFill>
                  <a:srgbClr val="18333E"/>
                </a:solidFill>
                <a:latin typeface="Arial"/>
                <a:ea typeface="Arial"/>
                <a:cs typeface="Arial"/>
                <a:sym typeface="Arial"/>
              </a:rPr>
              <a:t>“We may remove any photos or comments you upload at our discretion and without notice.”</a:t>
            </a:r>
            <a:endParaRPr/>
          </a:p>
        </p:txBody>
      </p:sp>
      <p:sp>
        <p:nvSpPr>
          <p:cNvPr id="246" name="Google Shape;246;p18"/>
          <p:cNvSpPr/>
          <p:nvPr/>
        </p:nvSpPr>
        <p:spPr>
          <a:xfrm>
            <a:off x="740664" y="4096512"/>
            <a:ext cx="2194560" cy="310896"/>
          </a:xfrm>
          <a:prstGeom prst="roundRect">
            <a:avLst>
              <a:gd fmla="val 12000" name="adj"/>
            </a:avLst>
          </a:prstGeom>
          <a:solidFill>
            <a:srgbClr val="CBE8D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18"/>
          <p:cNvSpPr txBox="1"/>
          <p:nvPr/>
        </p:nvSpPr>
        <p:spPr>
          <a:xfrm>
            <a:off x="832104" y="4146804"/>
            <a:ext cx="2011679"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007D78"/>
                </a:solidFill>
                <a:latin typeface="Arial"/>
                <a:ea typeface="Arial"/>
                <a:cs typeface="Arial"/>
                <a:sym typeface="Arial"/>
              </a:rPr>
              <a:t>Content removal ✓</a:t>
            </a:r>
            <a:endParaRPr/>
          </a:p>
        </p:txBody>
      </p:sp>
      <p:sp>
        <p:nvSpPr>
          <p:cNvPr id="248" name="Google Shape;248;p18"/>
          <p:cNvSpPr/>
          <p:nvPr/>
        </p:nvSpPr>
        <p:spPr>
          <a:xfrm>
            <a:off x="3099816" y="4096512"/>
            <a:ext cx="3172968" cy="310896"/>
          </a:xfrm>
          <a:prstGeom prst="roundRect">
            <a:avLst>
              <a:gd fmla="val 12000" name="adj"/>
            </a:avLst>
          </a:prstGeom>
          <a:solidFill>
            <a:srgbClr val="F5E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18"/>
          <p:cNvSpPr txBox="1"/>
          <p:nvPr/>
        </p:nvSpPr>
        <p:spPr>
          <a:xfrm>
            <a:off x="3191256" y="4146804"/>
            <a:ext cx="2990088"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5D42"/>
                </a:solidFill>
                <a:latin typeface="Arial"/>
                <a:ea typeface="Arial"/>
                <a:cs typeface="Arial"/>
                <a:sym typeface="Arial"/>
              </a:rPr>
              <a:t>Unilateral termination ×</a:t>
            </a:r>
            <a:endParaRPr/>
          </a:p>
        </p:txBody>
      </p:sp>
      <p:sp>
        <p:nvSpPr>
          <p:cNvPr id="250" name="Google Shape;250;p18"/>
          <p:cNvSpPr/>
          <p:nvPr/>
        </p:nvSpPr>
        <p:spPr>
          <a:xfrm>
            <a:off x="740664" y="4599432"/>
            <a:ext cx="2606040" cy="310896"/>
          </a:xfrm>
          <a:prstGeom prst="roundRect">
            <a:avLst>
              <a:gd fmla="val 12000" name="adj"/>
            </a:avLst>
          </a:prstGeom>
          <a:solidFill>
            <a:srgbClr val="F5E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18"/>
          <p:cNvSpPr txBox="1"/>
          <p:nvPr/>
        </p:nvSpPr>
        <p:spPr>
          <a:xfrm>
            <a:off x="832104" y="4649724"/>
            <a:ext cx="242316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00" u="none" cap="none" strike="noStrike">
                <a:solidFill>
                  <a:srgbClr val="C75D42"/>
                </a:solidFill>
                <a:latin typeface="Arial"/>
                <a:ea typeface="Arial"/>
                <a:cs typeface="Arial"/>
                <a:sym typeface="Arial"/>
              </a:rPr>
              <a:t>Unilateral change ×</a:t>
            </a:r>
            <a:endParaRPr/>
          </a:p>
        </p:txBody>
      </p:sp>
      <p:sp>
        <p:nvSpPr>
          <p:cNvPr id="252" name="Google Shape;252;p18"/>
          <p:cNvSpPr/>
          <p:nvPr/>
        </p:nvSpPr>
        <p:spPr>
          <a:xfrm>
            <a:off x="7955279" y="2075688"/>
            <a:ext cx="3685032" cy="3108960"/>
          </a:xfrm>
          <a:prstGeom prst="roundRect">
            <a:avLst>
              <a:gd fmla="val 12000" name="adj"/>
            </a:avLst>
          </a:prstGeom>
          <a:solidFill>
            <a:srgbClr val="132A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18"/>
          <p:cNvSpPr txBox="1"/>
          <p:nvPr/>
        </p:nvSpPr>
        <p:spPr>
          <a:xfrm>
            <a:off x="8220456" y="2350008"/>
            <a:ext cx="3108960" cy="78638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900" u="none" cap="none" strike="noStrike">
                <a:solidFill>
                  <a:srgbClr val="FFFFFF"/>
                </a:solidFill>
                <a:latin typeface="Arial"/>
                <a:ea typeface="Arial"/>
                <a:cs typeface="Arial"/>
                <a:sym typeface="Arial"/>
              </a:rPr>
              <a:t>49%</a:t>
            </a:r>
            <a:endParaRPr/>
          </a:p>
        </p:txBody>
      </p:sp>
      <p:sp>
        <p:nvSpPr>
          <p:cNvPr id="254" name="Google Shape;254;p18"/>
          <p:cNvSpPr txBox="1"/>
          <p:nvPr/>
        </p:nvSpPr>
        <p:spPr>
          <a:xfrm>
            <a:off x="8220456" y="3246120"/>
            <a:ext cx="310896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00" u="none" cap="none" strike="noStrike">
                <a:solidFill>
                  <a:srgbClr val="CBE8DE"/>
                </a:solidFill>
                <a:latin typeface="Arial"/>
                <a:ea typeface="Arial"/>
                <a:cs typeface="Arial"/>
                <a:sym typeface="Arial"/>
              </a:rPr>
              <a:t>of predicted tags lack</a:t>
            </a:r>
            <a:endParaRPr/>
          </a:p>
          <a:p>
            <a:pPr indent="0" lvl="0" marL="0" marR="0" rtl="0" algn="l">
              <a:spcBef>
                <a:spcPts val="600"/>
              </a:spcBef>
              <a:spcAft>
                <a:spcPts val="0"/>
              </a:spcAft>
              <a:buNone/>
            </a:pPr>
            <a:r>
              <a:rPr b="0" i="0" lang="en-US" sz="1900" u="none" cap="none" strike="noStrike">
                <a:solidFill>
                  <a:srgbClr val="CBE8DE"/>
                </a:solidFill>
                <a:latin typeface="Arial"/>
                <a:ea typeface="Arial"/>
                <a:cs typeface="Arial"/>
                <a:sym typeface="Arial"/>
              </a:rPr>
              <a:t>the corresponding annotation</a:t>
            </a:r>
            <a:endParaRPr/>
          </a:p>
        </p:txBody>
      </p:sp>
      <p:sp>
        <p:nvSpPr>
          <p:cNvPr id="255" name="Google Shape;255;p18"/>
          <p:cNvSpPr txBox="1"/>
          <p:nvPr/>
        </p:nvSpPr>
        <p:spPr>
          <a:xfrm>
            <a:off x="8220456" y="4151376"/>
            <a:ext cx="3108960" cy="7132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FFFFFF"/>
                </a:solidFill>
                <a:latin typeface="Arial"/>
                <a:ea typeface="Arial"/>
                <a:cs typeface="Arial"/>
                <a:sym typeface="Arial"/>
              </a:rPr>
              <a:t>195 of 398 category tags</a:t>
            </a:r>
            <a:endParaRPr/>
          </a:p>
          <a:p>
            <a:pPr indent="0" lvl="0" marL="0" marR="0" rtl="0" algn="l">
              <a:spcBef>
                <a:spcPts val="600"/>
              </a:spcBef>
              <a:spcAft>
                <a:spcPts val="0"/>
              </a:spcAft>
              <a:buNone/>
            </a:pPr>
            <a:r>
              <a:rPr b="0" i="0" lang="en-US" sz="1700" u="none" cap="none" strike="noStrike">
                <a:solidFill>
                  <a:srgbClr val="FFFFFF"/>
                </a:solidFill>
                <a:latin typeface="Arial"/>
                <a:ea typeface="Arial"/>
                <a:cs typeface="Arial"/>
                <a:sym typeface="Arial"/>
              </a:rPr>
              <a:t>on validation sentences</a:t>
            </a:r>
            <a:endParaRPr/>
          </a:p>
        </p:txBody>
      </p:sp>
      <p:sp>
        <p:nvSpPr>
          <p:cNvPr id="256" name="Google Shape;256;p18"/>
          <p:cNvSpPr/>
          <p:nvPr/>
        </p:nvSpPr>
        <p:spPr>
          <a:xfrm>
            <a:off x="502920" y="5486400"/>
            <a:ext cx="11137392" cy="603504"/>
          </a:xfrm>
          <a:prstGeom prst="roundRect">
            <a:avLst>
              <a:gd fmla="val 12000" name="adj"/>
            </a:avLst>
          </a:prstGeom>
          <a:solidFill>
            <a:srgbClr val="F5E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7" name="Google Shape;257;p18"/>
          <p:cNvSpPr txBox="1"/>
          <p:nvPr/>
        </p:nvSpPr>
        <p:spPr>
          <a:xfrm>
            <a:off x="713232" y="5641848"/>
            <a:ext cx="10744200" cy="3474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900" u="none" cap="none" strike="noStrike">
                <a:solidFill>
                  <a:srgbClr val="C75D42"/>
                </a:solidFill>
                <a:latin typeface="Arial"/>
                <a:ea typeface="Arial"/>
                <a:cs typeface="Arial"/>
                <a:sym typeface="Arial"/>
              </a:rPr>
              <a:t>Weakest category: arbitration F1 = 0.323 • only 9 positive validation examples.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262" name="Shape 262"/>
        <p:cNvGrpSpPr/>
        <p:nvPr/>
      </p:nvGrpSpPr>
      <p:grpSpPr>
        <a:xfrm>
          <a:off x="0" y="0"/>
          <a:ext cx="0" cy="0"/>
          <a:chOff x="0" y="0"/>
          <a:chExt cx="0" cy="0"/>
        </a:xfrm>
      </p:grpSpPr>
      <p:sp>
        <p:nvSpPr>
          <p:cNvPr id="263" name="Google Shape;263;p19"/>
          <p:cNvSpPr txBox="1"/>
          <p:nvPr/>
        </p:nvSpPr>
        <p:spPr>
          <a:xfrm>
            <a:off x="502920" y="265176"/>
            <a:ext cx="8229600" cy="21945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06 / OUTSIDE-USER EVIDENCE</a:t>
            </a:r>
            <a:endParaRPr/>
          </a:p>
        </p:txBody>
      </p:sp>
      <p:sp>
        <p:nvSpPr>
          <p:cNvPr id="264" name="Google Shape;264;p19"/>
          <p:cNvSpPr txBox="1"/>
          <p:nvPr/>
        </p:nvSpPr>
        <p:spPr>
          <a:xfrm>
            <a:off x="502920" y="713232"/>
            <a:ext cx="1115568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00" u="none" cap="none" strike="noStrike">
                <a:solidFill>
                  <a:srgbClr val="18333E"/>
                </a:solidFill>
                <a:latin typeface="Arial"/>
                <a:ea typeface="Arial"/>
                <a:cs typeface="Arial"/>
                <a:sym typeface="Arial"/>
              </a:rPr>
              <a:t>Four users succeeded—but usefulness is still unproven.</a:t>
            </a:r>
            <a:endParaRPr/>
          </a:p>
        </p:txBody>
      </p:sp>
      <p:sp>
        <p:nvSpPr>
          <p:cNvPr id="265" name="Google Shape;265;p19"/>
          <p:cNvSpPr txBox="1"/>
          <p:nvPr/>
        </p:nvSpPr>
        <p:spPr>
          <a:xfrm>
            <a:off x="502920" y="1399032"/>
            <a:ext cx="110642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9717A"/>
                </a:solidFill>
                <a:latin typeface="Arial"/>
                <a:ea typeface="Arial"/>
                <a:cs typeface="Arial"/>
                <a:sym typeface="Arial"/>
              </a:rPr>
              <a:t>North-star metric: the right sentence AND meaning, within 180 seconds.</a:t>
            </a:r>
            <a:endParaRPr/>
          </a:p>
        </p:txBody>
      </p:sp>
      <p:sp>
        <p:nvSpPr>
          <p:cNvPr id="266" name="Google Shape;266;p19"/>
          <p:cNvSpPr/>
          <p:nvPr/>
        </p:nvSpPr>
        <p:spPr>
          <a:xfrm>
            <a:off x="502920" y="6409944"/>
            <a:ext cx="11155680" cy="10972"/>
          </a:xfrm>
          <a:prstGeom prst="rect">
            <a:avLst/>
          </a:prstGeom>
          <a:solidFill>
            <a:srgbClr val="CAD4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7" name="Google Shape;267;p19"/>
          <p:cNvSpPr txBox="1"/>
          <p:nvPr/>
        </p:nvSpPr>
        <p:spPr>
          <a:xfrm>
            <a:off x="502920" y="6528816"/>
            <a:ext cx="274320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59717A"/>
                </a:solidFill>
                <a:latin typeface="Arial"/>
                <a:ea typeface="Arial"/>
                <a:cs typeface="Arial"/>
                <a:sym typeface="Arial"/>
              </a:rPr>
              <a:t>CLAUSEGUARD  /  MID-SEMESTER</a:t>
            </a:r>
            <a:endParaRPr/>
          </a:p>
        </p:txBody>
      </p:sp>
      <p:sp>
        <p:nvSpPr>
          <p:cNvPr id="268" name="Google Shape;268;p19"/>
          <p:cNvSpPr txBox="1"/>
          <p:nvPr/>
        </p:nvSpPr>
        <p:spPr>
          <a:xfrm>
            <a:off x="11292840" y="6501384"/>
            <a:ext cx="365760" cy="21945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000" u="none" cap="none" strike="noStrike">
                <a:solidFill>
                  <a:srgbClr val="59717A"/>
                </a:solidFill>
                <a:latin typeface="Arial"/>
                <a:ea typeface="Arial"/>
                <a:cs typeface="Arial"/>
                <a:sym typeface="Arial"/>
              </a:rPr>
              <a:t>07</a:t>
            </a:r>
            <a:endParaRPr/>
          </a:p>
        </p:txBody>
      </p:sp>
      <p:sp>
        <p:nvSpPr>
          <p:cNvPr id="269" name="Google Shape;269;p19"/>
          <p:cNvSpPr/>
          <p:nvPr/>
        </p:nvSpPr>
        <p:spPr>
          <a:xfrm>
            <a:off x="502920" y="2103120"/>
            <a:ext cx="2743200" cy="3246120"/>
          </a:xfrm>
          <a:prstGeom prst="roundRect">
            <a:avLst>
              <a:gd fmla="val 12000" name="adj"/>
            </a:avLst>
          </a:prstGeom>
          <a:solidFill>
            <a:srgbClr val="132A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0" name="Google Shape;270;p19"/>
          <p:cNvSpPr txBox="1"/>
          <p:nvPr/>
        </p:nvSpPr>
        <p:spPr>
          <a:xfrm>
            <a:off x="749808" y="2350008"/>
            <a:ext cx="2221992" cy="8686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5700" u="none" cap="none" strike="noStrike">
                <a:solidFill>
                  <a:srgbClr val="FFFFFF"/>
                </a:solidFill>
                <a:latin typeface="Arial"/>
                <a:ea typeface="Arial"/>
                <a:cs typeface="Arial"/>
                <a:sym typeface="Arial"/>
              </a:rPr>
              <a:t>4</a:t>
            </a:r>
            <a:endParaRPr/>
          </a:p>
        </p:txBody>
      </p:sp>
      <p:sp>
        <p:nvSpPr>
          <p:cNvPr id="271" name="Google Shape;271;p19"/>
          <p:cNvSpPr txBox="1"/>
          <p:nvPr/>
        </p:nvSpPr>
        <p:spPr>
          <a:xfrm>
            <a:off x="749808" y="3291840"/>
            <a:ext cx="2221992" cy="71323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CBE8DE"/>
                </a:solidFill>
                <a:latin typeface="Arial"/>
                <a:ea typeface="Arial"/>
                <a:cs typeface="Arial"/>
                <a:sym typeface="Arial"/>
              </a:rPr>
              <a:t>outside</a:t>
            </a:r>
            <a:endParaRPr/>
          </a:p>
          <a:p>
            <a:pPr indent="0" lvl="0" marL="0" marR="0" rtl="0" algn="l">
              <a:spcBef>
                <a:spcPts val="600"/>
              </a:spcBef>
              <a:spcAft>
                <a:spcPts val="0"/>
              </a:spcAft>
              <a:buNone/>
            </a:pPr>
            <a:r>
              <a:rPr b="1" i="0" lang="en-US" sz="2400" u="none" cap="none" strike="noStrike">
                <a:solidFill>
                  <a:srgbClr val="CBE8DE"/>
                </a:solidFill>
                <a:latin typeface="Arial"/>
                <a:ea typeface="Arial"/>
                <a:cs typeface="Arial"/>
                <a:sym typeface="Arial"/>
              </a:rPr>
              <a:t>participants</a:t>
            </a:r>
            <a:endParaRPr/>
          </a:p>
        </p:txBody>
      </p:sp>
      <p:sp>
        <p:nvSpPr>
          <p:cNvPr id="272" name="Google Shape;272;p19"/>
          <p:cNvSpPr txBox="1"/>
          <p:nvPr/>
        </p:nvSpPr>
        <p:spPr>
          <a:xfrm>
            <a:off x="749808" y="4261104"/>
            <a:ext cx="2221992" cy="8046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FFFFFF"/>
                </a:solidFill>
                <a:latin typeface="Arial"/>
                <a:ea typeface="Arial"/>
                <a:cs typeface="Arial"/>
                <a:sym typeface="Arial"/>
              </a:rPr>
              <a:t>1 in Session 05</a:t>
            </a:r>
            <a:endParaRPr/>
          </a:p>
          <a:p>
            <a:pPr indent="0" lvl="0" marL="0" marR="0" rtl="0" algn="l">
              <a:spcBef>
                <a:spcPts val="600"/>
              </a:spcBef>
              <a:spcAft>
                <a:spcPts val="0"/>
              </a:spcAft>
              <a:buNone/>
            </a:pPr>
            <a:r>
              <a:rPr b="0" i="0" lang="en-US" sz="1600" u="none" cap="none" strike="noStrike">
                <a:solidFill>
                  <a:srgbClr val="FFFFFF"/>
                </a:solidFill>
                <a:latin typeface="Arial"/>
                <a:ea typeface="Arial"/>
                <a:cs typeface="Arial"/>
                <a:sym typeface="Arial"/>
              </a:rPr>
              <a:t>3 in Session 06</a:t>
            </a:r>
            <a:endParaRPr/>
          </a:p>
          <a:p>
            <a:pPr indent="0" lvl="0" marL="0" marR="0" rtl="0" algn="l">
              <a:spcBef>
                <a:spcPts val="600"/>
              </a:spcBef>
              <a:spcAft>
                <a:spcPts val="0"/>
              </a:spcAft>
              <a:buNone/>
            </a:pPr>
            <a:r>
              <a:rPr b="0" i="0" lang="en-US" sz="1600" u="none" cap="none" strike="noStrike">
                <a:solidFill>
                  <a:srgbClr val="FFFFFF"/>
                </a:solidFill>
                <a:latin typeface="Arial"/>
                <a:ea typeface="Arial"/>
                <a:cs typeface="Arial"/>
                <a:sym typeface="Arial"/>
              </a:rPr>
              <a:t>8 trials total</a:t>
            </a:r>
            <a:endParaRPr/>
          </a:p>
        </p:txBody>
      </p:sp>
      <p:sp>
        <p:nvSpPr>
          <p:cNvPr id="273" name="Google Shape;273;p19"/>
          <p:cNvSpPr/>
          <p:nvPr/>
        </p:nvSpPr>
        <p:spPr>
          <a:xfrm>
            <a:off x="3474720" y="2103120"/>
            <a:ext cx="8165592" cy="3246120"/>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19"/>
          <p:cNvSpPr txBox="1"/>
          <p:nvPr/>
        </p:nvSpPr>
        <p:spPr>
          <a:xfrm>
            <a:off x="3703320" y="2386584"/>
            <a:ext cx="2889504"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RECORDED OUTCOME</a:t>
            </a:r>
            <a:endParaRPr/>
          </a:p>
        </p:txBody>
      </p:sp>
      <p:sp>
        <p:nvSpPr>
          <p:cNvPr id="275" name="Google Shape;275;p19"/>
          <p:cNvSpPr txBox="1"/>
          <p:nvPr/>
        </p:nvSpPr>
        <p:spPr>
          <a:xfrm>
            <a:off x="7095744" y="2386584"/>
            <a:ext cx="1819656"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CLAUSEGUARD</a:t>
            </a:r>
            <a:endParaRPr/>
          </a:p>
        </p:txBody>
      </p:sp>
      <p:sp>
        <p:nvSpPr>
          <p:cNvPr id="276" name="Google Shape;276;p19"/>
          <p:cNvSpPr txBox="1"/>
          <p:nvPr/>
        </p:nvSpPr>
        <p:spPr>
          <a:xfrm>
            <a:off x="9473184" y="2386584"/>
            <a:ext cx="1819656"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59717A"/>
                </a:solidFill>
                <a:latin typeface="Arial"/>
                <a:ea typeface="Arial"/>
                <a:cs typeface="Arial"/>
                <a:sym typeface="Arial"/>
              </a:rPr>
              <a:t>MANUAL</a:t>
            </a:r>
            <a:endParaRPr/>
          </a:p>
        </p:txBody>
      </p:sp>
      <p:sp>
        <p:nvSpPr>
          <p:cNvPr id="277" name="Google Shape;277;p19"/>
          <p:cNvSpPr/>
          <p:nvPr/>
        </p:nvSpPr>
        <p:spPr>
          <a:xfrm>
            <a:off x="3703320" y="2843784"/>
            <a:ext cx="7644383" cy="10972"/>
          </a:xfrm>
          <a:prstGeom prst="rect">
            <a:avLst/>
          </a:prstGeom>
          <a:solidFill>
            <a:srgbClr val="E3E8E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19"/>
          <p:cNvSpPr txBox="1"/>
          <p:nvPr/>
        </p:nvSpPr>
        <p:spPr>
          <a:xfrm>
            <a:off x="3703320" y="3154680"/>
            <a:ext cx="3182112" cy="60350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000" u="none" cap="none" strike="noStrike">
                <a:solidFill>
                  <a:srgbClr val="18333E"/>
                </a:solidFill>
                <a:latin typeface="Arial"/>
                <a:ea typeface="Arial"/>
                <a:cs typeface="Arial"/>
                <a:sym typeface="Arial"/>
              </a:rPr>
              <a:t>Correct within</a:t>
            </a:r>
            <a:endParaRPr/>
          </a:p>
          <a:p>
            <a:pPr indent="0" lvl="0" marL="0" marR="0" rtl="0" algn="l">
              <a:spcBef>
                <a:spcPts val="600"/>
              </a:spcBef>
              <a:spcAft>
                <a:spcPts val="0"/>
              </a:spcAft>
              <a:buNone/>
            </a:pPr>
            <a:r>
              <a:rPr b="1" i="0" lang="en-US" sz="2000" u="none" cap="none" strike="noStrike">
                <a:solidFill>
                  <a:srgbClr val="18333E"/>
                </a:solidFill>
                <a:latin typeface="Arial"/>
                <a:ea typeface="Arial"/>
                <a:cs typeface="Arial"/>
                <a:sym typeface="Arial"/>
              </a:rPr>
              <a:t>180 seconds</a:t>
            </a:r>
            <a:endParaRPr/>
          </a:p>
        </p:txBody>
      </p:sp>
      <p:sp>
        <p:nvSpPr>
          <p:cNvPr id="279" name="Google Shape;279;p19"/>
          <p:cNvSpPr txBox="1"/>
          <p:nvPr/>
        </p:nvSpPr>
        <p:spPr>
          <a:xfrm>
            <a:off x="7095744" y="3218688"/>
            <a:ext cx="1920240" cy="6217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400" u="none" cap="none" strike="noStrike">
                <a:solidFill>
                  <a:srgbClr val="007D78"/>
                </a:solidFill>
                <a:latin typeface="Arial"/>
                <a:ea typeface="Arial"/>
                <a:cs typeface="Arial"/>
                <a:sym typeface="Arial"/>
              </a:rPr>
              <a:t>4 / 4</a:t>
            </a:r>
            <a:endParaRPr/>
          </a:p>
        </p:txBody>
      </p:sp>
      <p:sp>
        <p:nvSpPr>
          <p:cNvPr id="280" name="Google Shape;280;p19"/>
          <p:cNvSpPr txBox="1"/>
          <p:nvPr/>
        </p:nvSpPr>
        <p:spPr>
          <a:xfrm>
            <a:off x="9473184" y="3218688"/>
            <a:ext cx="1819656" cy="6217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400" u="none" cap="none" strike="noStrike">
                <a:solidFill>
                  <a:srgbClr val="18333E"/>
                </a:solidFill>
                <a:latin typeface="Arial"/>
                <a:ea typeface="Arial"/>
                <a:cs typeface="Arial"/>
                <a:sym typeface="Arial"/>
              </a:rPr>
              <a:t>4 / 4</a:t>
            </a:r>
            <a:endParaRPr/>
          </a:p>
        </p:txBody>
      </p:sp>
      <p:sp>
        <p:nvSpPr>
          <p:cNvPr id="281" name="Google Shape;281;p19"/>
          <p:cNvSpPr/>
          <p:nvPr/>
        </p:nvSpPr>
        <p:spPr>
          <a:xfrm>
            <a:off x="3703320" y="3977639"/>
            <a:ext cx="7644383" cy="10972"/>
          </a:xfrm>
          <a:prstGeom prst="rect">
            <a:avLst/>
          </a:prstGeom>
          <a:solidFill>
            <a:srgbClr val="E3E8E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19"/>
          <p:cNvSpPr txBox="1"/>
          <p:nvPr/>
        </p:nvSpPr>
        <p:spPr>
          <a:xfrm>
            <a:off x="3703320" y="4297680"/>
            <a:ext cx="3191256" cy="32918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900" u="none" cap="none" strike="noStrike">
                <a:solidFill>
                  <a:srgbClr val="18333E"/>
                </a:solidFill>
                <a:latin typeface="Arial"/>
                <a:ea typeface="Arial"/>
                <a:cs typeface="Arial"/>
                <a:sym typeface="Arial"/>
              </a:rPr>
              <a:t>Observed median time</a:t>
            </a:r>
            <a:endParaRPr/>
          </a:p>
        </p:txBody>
      </p:sp>
      <p:sp>
        <p:nvSpPr>
          <p:cNvPr id="283" name="Google Shape;283;p19"/>
          <p:cNvSpPr txBox="1"/>
          <p:nvPr/>
        </p:nvSpPr>
        <p:spPr>
          <a:xfrm>
            <a:off x="7095744" y="4288536"/>
            <a:ext cx="1828800" cy="429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00" u="none" cap="none" strike="noStrike">
                <a:solidFill>
                  <a:srgbClr val="007D78"/>
                </a:solidFill>
                <a:latin typeface="Arial"/>
                <a:ea typeface="Arial"/>
                <a:cs typeface="Arial"/>
                <a:sym typeface="Arial"/>
              </a:rPr>
              <a:t>51.7 s</a:t>
            </a:r>
            <a:endParaRPr/>
          </a:p>
        </p:txBody>
      </p:sp>
      <p:sp>
        <p:nvSpPr>
          <p:cNvPr id="284" name="Google Shape;284;p19"/>
          <p:cNvSpPr txBox="1"/>
          <p:nvPr/>
        </p:nvSpPr>
        <p:spPr>
          <a:xfrm>
            <a:off x="9473184" y="4288536"/>
            <a:ext cx="1828800" cy="429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500" u="none" cap="none" strike="noStrike">
                <a:solidFill>
                  <a:srgbClr val="18333E"/>
                </a:solidFill>
                <a:latin typeface="Arial"/>
                <a:ea typeface="Arial"/>
                <a:cs typeface="Arial"/>
                <a:sym typeface="Arial"/>
              </a:rPr>
              <a:t>70.9 s</a:t>
            </a:r>
            <a:endParaRPr/>
          </a:p>
        </p:txBody>
      </p:sp>
      <p:sp>
        <p:nvSpPr>
          <p:cNvPr id="285" name="Google Shape;285;p19"/>
          <p:cNvSpPr txBox="1"/>
          <p:nvPr/>
        </p:nvSpPr>
        <p:spPr>
          <a:xfrm>
            <a:off x="3703320" y="4864608"/>
            <a:ext cx="7470648"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700" u="none" cap="none" strike="noStrike">
                <a:solidFill>
                  <a:srgbClr val="18333E"/>
                </a:solidFill>
                <a:latin typeface="Arial"/>
                <a:ea typeface="Arial"/>
                <a:cs typeface="Arial"/>
                <a:sym typeface="Arial"/>
              </a:rPr>
              <a:t>Over-tagged C1 task with the app: 2 of 2 correct.</a:t>
            </a:r>
            <a:endParaRPr/>
          </a:p>
        </p:txBody>
      </p:sp>
      <p:sp>
        <p:nvSpPr>
          <p:cNvPr id="286" name="Google Shape;286;p19"/>
          <p:cNvSpPr/>
          <p:nvPr/>
        </p:nvSpPr>
        <p:spPr>
          <a:xfrm>
            <a:off x="502920" y="5522976"/>
            <a:ext cx="11137392" cy="630936"/>
          </a:xfrm>
          <a:prstGeom prst="roundRect">
            <a:avLst>
              <a:gd fmla="val 12000" name="adj"/>
            </a:avLst>
          </a:prstGeom>
          <a:solidFill>
            <a:srgbClr val="F5E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7" name="Google Shape;287;p19"/>
          <p:cNvSpPr txBox="1"/>
          <p:nvPr/>
        </p:nvSpPr>
        <p:spPr>
          <a:xfrm>
            <a:off x="713232" y="5660136"/>
            <a:ext cx="10744200" cy="42062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C75D42"/>
                </a:solidFill>
                <a:latin typeface="Arial"/>
                <a:ea typeface="Arial"/>
                <a:cs typeface="Arial"/>
                <a:sym typeface="Arial"/>
              </a:rPr>
              <a:t>Short fictional documents; tasks differ in difficulty; convenience sample. No causal speed claim.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292" name="Shape 292"/>
        <p:cNvGrpSpPr/>
        <p:nvPr/>
      </p:nvGrpSpPr>
      <p:grpSpPr>
        <a:xfrm>
          <a:off x="0" y="0"/>
          <a:ext cx="0" cy="0"/>
          <a:chOff x="0" y="0"/>
          <a:chExt cx="0" cy="0"/>
        </a:xfrm>
      </p:grpSpPr>
      <p:sp>
        <p:nvSpPr>
          <p:cNvPr id="293" name="Google Shape;293;p20"/>
          <p:cNvSpPr txBox="1"/>
          <p:nvPr/>
        </p:nvSpPr>
        <p:spPr>
          <a:xfrm>
            <a:off x="502920" y="265176"/>
            <a:ext cx="8229600" cy="21945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07 / WHAT WE LEARNED</a:t>
            </a:r>
            <a:endParaRPr/>
          </a:p>
        </p:txBody>
      </p:sp>
      <p:sp>
        <p:nvSpPr>
          <p:cNvPr id="294" name="Google Shape;294;p20"/>
          <p:cNvSpPr txBox="1"/>
          <p:nvPr/>
        </p:nvSpPr>
        <p:spPr>
          <a:xfrm>
            <a:off x="502920" y="713232"/>
            <a:ext cx="1115568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00" u="none" cap="none" strike="noStrike">
                <a:solidFill>
                  <a:srgbClr val="18333E"/>
                </a:solidFill>
                <a:latin typeface="Arial"/>
                <a:ea typeface="Arial"/>
                <a:cs typeface="Arial"/>
                <a:sym typeface="Arial"/>
              </a:rPr>
              <a:t>We fixed measurement and display errors first.</a:t>
            </a:r>
            <a:endParaRPr/>
          </a:p>
        </p:txBody>
      </p:sp>
      <p:sp>
        <p:nvSpPr>
          <p:cNvPr id="295" name="Google Shape;295;p20"/>
          <p:cNvSpPr txBox="1"/>
          <p:nvPr/>
        </p:nvSpPr>
        <p:spPr>
          <a:xfrm>
            <a:off x="502920" y="1399032"/>
            <a:ext cx="110642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9717A"/>
                </a:solidFill>
                <a:latin typeface="Arial"/>
                <a:ea typeface="Arial"/>
                <a:cs typeface="Arial"/>
                <a:sym typeface="Arial"/>
              </a:rPr>
              <a:t>Progress is the running product, the evidence, and the changes made from failures.</a:t>
            </a:r>
            <a:endParaRPr/>
          </a:p>
        </p:txBody>
      </p:sp>
      <p:sp>
        <p:nvSpPr>
          <p:cNvPr id="296" name="Google Shape;296;p20"/>
          <p:cNvSpPr/>
          <p:nvPr/>
        </p:nvSpPr>
        <p:spPr>
          <a:xfrm>
            <a:off x="502920" y="6409944"/>
            <a:ext cx="11155680" cy="10972"/>
          </a:xfrm>
          <a:prstGeom prst="rect">
            <a:avLst/>
          </a:prstGeom>
          <a:solidFill>
            <a:srgbClr val="CAD4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20"/>
          <p:cNvSpPr txBox="1"/>
          <p:nvPr/>
        </p:nvSpPr>
        <p:spPr>
          <a:xfrm>
            <a:off x="502920" y="6528816"/>
            <a:ext cx="274320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59717A"/>
                </a:solidFill>
                <a:latin typeface="Arial"/>
                <a:ea typeface="Arial"/>
                <a:cs typeface="Arial"/>
                <a:sym typeface="Arial"/>
              </a:rPr>
              <a:t>CLAUSEGUARD  /  MID-SEMESTER</a:t>
            </a:r>
            <a:endParaRPr/>
          </a:p>
        </p:txBody>
      </p:sp>
      <p:sp>
        <p:nvSpPr>
          <p:cNvPr id="298" name="Google Shape;298;p20"/>
          <p:cNvSpPr txBox="1"/>
          <p:nvPr/>
        </p:nvSpPr>
        <p:spPr>
          <a:xfrm>
            <a:off x="11292840" y="6501384"/>
            <a:ext cx="365760" cy="21945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000" u="none" cap="none" strike="noStrike">
                <a:solidFill>
                  <a:srgbClr val="59717A"/>
                </a:solidFill>
                <a:latin typeface="Arial"/>
                <a:ea typeface="Arial"/>
                <a:cs typeface="Arial"/>
                <a:sym typeface="Arial"/>
              </a:rPr>
              <a:t>08</a:t>
            </a:r>
            <a:endParaRPr/>
          </a:p>
        </p:txBody>
      </p:sp>
      <p:sp>
        <p:nvSpPr>
          <p:cNvPr id="299" name="Google Shape;299;p20"/>
          <p:cNvSpPr/>
          <p:nvPr/>
        </p:nvSpPr>
        <p:spPr>
          <a:xfrm>
            <a:off x="502920" y="2093976"/>
            <a:ext cx="11137392" cy="868680"/>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20"/>
          <p:cNvSpPr txBox="1"/>
          <p:nvPr/>
        </p:nvSpPr>
        <p:spPr>
          <a:xfrm>
            <a:off x="704088" y="2267712"/>
            <a:ext cx="2852928" cy="55778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8333E"/>
                </a:solidFill>
                <a:latin typeface="Arial"/>
                <a:ea typeface="Arial"/>
                <a:cs typeface="Arial"/>
                <a:sym typeface="Arial"/>
              </a:rPr>
              <a:t>Pilot measurement failed</a:t>
            </a:r>
            <a:endParaRPr/>
          </a:p>
        </p:txBody>
      </p:sp>
      <p:sp>
        <p:nvSpPr>
          <p:cNvPr id="301" name="Google Shape;301;p20"/>
          <p:cNvSpPr txBox="1"/>
          <p:nvPr/>
        </p:nvSpPr>
        <p:spPr>
          <a:xfrm>
            <a:off x="3749039" y="2240280"/>
            <a:ext cx="3749039" cy="5760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9717A"/>
                </a:solidFill>
                <a:latin typeface="Arial"/>
                <a:ea typeface="Arial"/>
                <a:cs typeface="Arial"/>
                <a:sym typeface="Arial"/>
              </a:rPr>
              <a:t>Typing inflated the clock; the user answered a different task.</a:t>
            </a:r>
            <a:endParaRPr/>
          </a:p>
        </p:txBody>
      </p:sp>
      <p:sp>
        <p:nvSpPr>
          <p:cNvPr id="302" name="Google Shape;302;p20"/>
          <p:cNvSpPr txBox="1"/>
          <p:nvPr/>
        </p:nvSpPr>
        <p:spPr>
          <a:xfrm>
            <a:off x="7763256" y="2240280"/>
            <a:ext cx="3584448" cy="60350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007D78"/>
                </a:solidFill>
                <a:latin typeface="Arial"/>
                <a:ea typeface="Arial"/>
                <a:cs typeface="Arial"/>
                <a:sym typeface="Arial"/>
              </a:rPr>
              <a:t>Changed: stop at the spoken answer; have the user restate the prompt.</a:t>
            </a:r>
            <a:endParaRPr/>
          </a:p>
        </p:txBody>
      </p:sp>
      <p:sp>
        <p:nvSpPr>
          <p:cNvPr id="303" name="Google Shape;303;p20"/>
          <p:cNvSpPr/>
          <p:nvPr/>
        </p:nvSpPr>
        <p:spPr>
          <a:xfrm>
            <a:off x="502920" y="3108960"/>
            <a:ext cx="11137392" cy="868680"/>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20"/>
          <p:cNvSpPr txBox="1"/>
          <p:nvPr/>
        </p:nvSpPr>
        <p:spPr>
          <a:xfrm>
            <a:off x="704088" y="3282696"/>
            <a:ext cx="2852928" cy="55778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8333E"/>
                </a:solidFill>
                <a:latin typeface="Arial"/>
                <a:ea typeface="Arial"/>
                <a:cs typeface="Arial"/>
                <a:sym typeface="Arial"/>
              </a:rPr>
              <a:t>Old details stayed visible</a:t>
            </a:r>
            <a:endParaRPr/>
          </a:p>
        </p:txBody>
      </p:sp>
      <p:sp>
        <p:nvSpPr>
          <p:cNvPr id="305" name="Google Shape;305;p20"/>
          <p:cNvSpPr txBox="1"/>
          <p:nvPr/>
        </p:nvSpPr>
        <p:spPr>
          <a:xfrm>
            <a:off x="3749039" y="3255264"/>
            <a:ext cx="3749039" cy="5760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9717A"/>
                </a:solidFill>
                <a:latin typeface="Arial"/>
                <a:ea typeface="Arial"/>
                <a:cs typeface="Arial"/>
                <a:sym typeface="Arial"/>
              </a:rPr>
              <a:t>Loading a new document left the previous category detail on screen.</a:t>
            </a:r>
            <a:endParaRPr/>
          </a:p>
        </p:txBody>
      </p:sp>
      <p:sp>
        <p:nvSpPr>
          <p:cNvPr id="306" name="Google Shape;306;p20"/>
          <p:cNvSpPr txBox="1"/>
          <p:nvPr/>
        </p:nvSpPr>
        <p:spPr>
          <a:xfrm>
            <a:off x="7763256" y="3255264"/>
            <a:ext cx="3584448" cy="60350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007D78"/>
                </a:solidFill>
                <a:latin typeface="Arial"/>
                <a:ea typeface="Arial"/>
                <a:cs typeface="Arial"/>
                <a:sym typeface="Arial"/>
              </a:rPr>
              <a:t>Fixed: edits or a new document clear old results until analysis runs.</a:t>
            </a:r>
            <a:endParaRPr/>
          </a:p>
        </p:txBody>
      </p:sp>
      <p:sp>
        <p:nvSpPr>
          <p:cNvPr id="307" name="Google Shape;307;p20"/>
          <p:cNvSpPr/>
          <p:nvPr/>
        </p:nvSpPr>
        <p:spPr>
          <a:xfrm>
            <a:off x="502920" y="4123944"/>
            <a:ext cx="11137392" cy="868680"/>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20"/>
          <p:cNvSpPr txBox="1"/>
          <p:nvPr/>
        </p:nvSpPr>
        <p:spPr>
          <a:xfrm>
            <a:off x="704088" y="4297680"/>
            <a:ext cx="2852928" cy="55778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18333E"/>
                </a:solidFill>
                <a:latin typeface="Arial"/>
                <a:ea typeface="Arial"/>
                <a:cs typeface="Arial"/>
                <a:sym typeface="Arial"/>
              </a:rPr>
              <a:t>Source text did the work</a:t>
            </a:r>
            <a:endParaRPr/>
          </a:p>
        </p:txBody>
      </p:sp>
      <p:sp>
        <p:nvSpPr>
          <p:cNvPr id="309" name="Google Shape;309;p20"/>
          <p:cNvSpPr txBox="1"/>
          <p:nvPr/>
        </p:nvSpPr>
        <p:spPr>
          <a:xfrm>
            <a:off x="3749039" y="4270248"/>
            <a:ext cx="3749039" cy="5760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9717A"/>
                </a:solidFill>
                <a:latin typeface="Arial"/>
                <a:ea typeface="Arial"/>
                <a:cs typeface="Arial"/>
                <a:sym typeface="Arial"/>
              </a:rPr>
              <a:t>All 3 new users read a source result; none used the category filter.</a:t>
            </a:r>
            <a:endParaRPr/>
          </a:p>
        </p:txBody>
      </p:sp>
      <p:sp>
        <p:nvSpPr>
          <p:cNvPr id="310" name="Google Shape;310;p20"/>
          <p:cNvSpPr txBox="1"/>
          <p:nvPr/>
        </p:nvSpPr>
        <p:spPr>
          <a:xfrm>
            <a:off x="7763256" y="4270248"/>
            <a:ext cx="3584448" cy="60350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007D78"/>
                </a:solidFill>
                <a:latin typeface="Arial"/>
                <a:ea typeface="Arial"/>
                <a:cs typeface="Arial"/>
                <a:sym typeface="Arial"/>
              </a:rPr>
              <a:t>Next: emphasize the source and test how readers interpret extra tags.</a:t>
            </a:r>
            <a:endParaRPr/>
          </a:p>
        </p:txBody>
      </p:sp>
      <p:sp>
        <p:nvSpPr>
          <p:cNvPr id="311" name="Google Shape;311;p20"/>
          <p:cNvSpPr/>
          <p:nvPr/>
        </p:nvSpPr>
        <p:spPr>
          <a:xfrm>
            <a:off x="502920" y="5349240"/>
            <a:ext cx="11137392" cy="10972"/>
          </a:xfrm>
          <a:prstGeom prst="rect">
            <a:avLst/>
          </a:prstGeom>
          <a:solidFill>
            <a:srgbClr val="E3E8E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20"/>
          <p:cNvSpPr txBox="1"/>
          <p:nvPr/>
        </p:nvSpPr>
        <p:spPr>
          <a:xfrm>
            <a:off x="502920" y="5541264"/>
            <a:ext cx="23774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TRUST BOUNDARIES</a:t>
            </a:r>
            <a:endParaRPr/>
          </a:p>
        </p:txBody>
      </p:sp>
      <p:sp>
        <p:nvSpPr>
          <p:cNvPr id="313" name="Google Shape;313;p20"/>
          <p:cNvSpPr txBox="1"/>
          <p:nvPr/>
        </p:nvSpPr>
        <p:spPr>
          <a:xfrm>
            <a:off x="2834640" y="5513832"/>
            <a:ext cx="8741664" cy="5760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59717A"/>
                </a:solidFill>
                <a:latin typeface="Arial"/>
                <a:ea typeface="Arial"/>
                <a:cs typeface="Arial"/>
                <a:sym typeface="Arial"/>
              </a:rPr>
              <a:t>Local processing • no default input logging • no flags ≠ safe</a:t>
            </a:r>
            <a:endParaRPr/>
          </a:p>
          <a:p>
            <a:pPr indent="0" lvl="0" marL="0" marR="0" rtl="0" algn="l">
              <a:spcBef>
                <a:spcPts val="600"/>
              </a:spcBef>
              <a:spcAft>
                <a:spcPts val="0"/>
              </a:spcAft>
              <a:buNone/>
            </a:pPr>
            <a:r>
              <a:rPr b="0" i="0" lang="en-US" sz="1500" u="none" cap="none" strike="noStrike">
                <a:solidFill>
                  <a:srgbClr val="59717A"/>
                </a:solidFill>
                <a:latin typeface="Arial"/>
                <a:ea typeface="Arial"/>
                <a:cs typeface="Arial"/>
                <a:sym typeface="Arial"/>
              </a:rPr>
              <a:t>English only • European annotation context • licensed data with attribution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318" name="Shape 318"/>
        <p:cNvGrpSpPr/>
        <p:nvPr/>
      </p:nvGrpSpPr>
      <p:grpSpPr>
        <a:xfrm>
          <a:off x="0" y="0"/>
          <a:ext cx="0" cy="0"/>
          <a:chOff x="0" y="0"/>
          <a:chExt cx="0" cy="0"/>
        </a:xfrm>
      </p:grpSpPr>
      <p:sp>
        <p:nvSpPr>
          <p:cNvPr id="319" name="Google Shape;319;p21"/>
          <p:cNvSpPr txBox="1"/>
          <p:nvPr/>
        </p:nvSpPr>
        <p:spPr>
          <a:xfrm>
            <a:off x="502920" y="265176"/>
            <a:ext cx="8229600" cy="21945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08 / THE NEXT MODEL CHANGE</a:t>
            </a:r>
            <a:endParaRPr/>
          </a:p>
        </p:txBody>
      </p:sp>
      <p:sp>
        <p:nvSpPr>
          <p:cNvPr id="320" name="Google Shape;320;p21"/>
          <p:cNvSpPr txBox="1"/>
          <p:nvPr/>
        </p:nvSpPr>
        <p:spPr>
          <a:xfrm>
            <a:off x="502920" y="713232"/>
            <a:ext cx="1115568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00" u="none" cap="none" strike="noStrike">
                <a:solidFill>
                  <a:srgbClr val="18333E"/>
                </a:solidFill>
                <a:latin typeface="Arial"/>
                <a:ea typeface="Arial"/>
                <a:cs typeface="Arial"/>
                <a:sym typeface="Arial"/>
              </a:rPr>
              <a:t>Per-category thresholds look promising in development.</a:t>
            </a:r>
            <a:endParaRPr/>
          </a:p>
        </p:txBody>
      </p:sp>
      <p:sp>
        <p:nvSpPr>
          <p:cNvPr id="321" name="Google Shape;321;p21"/>
          <p:cNvSpPr txBox="1"/>
          <p:nvPr/>
        </p:nvSpPr>
        <p:spPr>
          <a:xfrm>
            <a:off x="502920" y="1399032"/>
            <a:ext cx="110642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9717A"/>
                </a:solidFill>
                <a:latin typeface="Arial"/>
                <a:ea typeface="Arial"/>
                <a:cs typeface="Arial"/>
                <a:sym typeface="Arial"/>
              </a:rPr>
              <a:t>Leave-one-company-out: tune on 9 validation companies, score the 10th, repeat.</a:t>
            </a:r>
            <a:endParaRPr/>
          </a:p>
        </p:txBody>
      </p:sp>
      <p:sp>
        <p:nvSpPr>
          <p:cNvPr id="322" name="Google Shape;322;p21"/>
          <p:cNvSpPr/>
          <p:nvPr/>
        </p:nvSpPr>
        <p:spPr>
          <a:xfrm>
            <a:off x="502920" y="6409944"/>
            <a:ext cx="11155680" cy="10972"/>
          </a:xfrm>
          <a:prstGeom prst="rect">
            <a:avLst/>
          </a:prstGeom>
          <a:solidFill>
            <a:srgbClr val="CAD4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3" name="Google Shape;323;p21"/>
          <p:cNvSpPr txBox="1"/>
          <p:nvPr/>
        </p:nvSpPr>
        <p:spPr>
          <a:xfrm>
            <a:off x="502920" y="6528816"/>
            <a:ext cx="274320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59717A"/>
                </a:solidFill>
                <a:latin typeface="Arial"/>
                <a:ea typeface="Arial"/>
                <a:cs typeface="Arial"/>
                <a:sym typeface="Arial"/>
              </a:rPr>
              <a:t>CLAUSEGUARD  /  MID-SEMESTER</a:t>
            </a:r>
            <a:endParaRPr/>
          </a:p>
        </p:txBody>
      </p:sp>
      <p:sp>
        <p:nvSpPr>
          <p:cNvPr id="324" name="Google Shape;324;p21"/>
          <p:cNvSpPr txBox="1"/>
          <p:nvPr/>
        </p:nvSpPr>
        <p:spPr>
          <a:xfrm>
            <a:off x="11292840" y="6501384"/>
            <a:ext cx="365760" cy="21945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000" u="none" cap="none" strike="noStrike">
                <a:solidFill>
                  <a:srgbClr val="59717A"/>
                </a:solidFill>
                <a:latin typeface="Arial"/>
                <a:ea typeface="Arial"/>
                <a:cs typeface="Arial"/>
                <a:sym typeface="Arial"/>
              </a:rPr>
              <a:t>09</a:t>
            </a:r>
            <a:endParaRPr/>
          </a:p>
        </p:txBody>
      </p:sp>
      <p:sp>
        <p:nvSpPr>
          <p:cNvPr id="325" name="Google Shape;325;p21"/>
          <p:cNvSpPr/>
          <p:nvPr/>
        </p:nvSpPr>
        <p:spPr>
          <a:xfrm>
            <a:off x="502920" y="2002536"/>
            <a:ext cx="3063240" cy="310896"/>
          </a:xfrm>
          <a:prstGeom prst="roundRect">
            <a:avLst>
              <a:gd fmla="val 12000" name="adj"/>
            </a:avLst>
          </a:prstGeom>
          <a:solidFill>
            <a:srgbClr val="F5E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6" name="Google Shape;326;p21"/>
          <p:cNvSpPr txBox="1"/>
          <p:nvPr/>
        </p:nvSpPr>
        <p:spPr>
          <a:xfrm>
            <a:off x="594360" y="2052828"/>
            <a:ext cx="288036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C75D42"/>
                </a:solidFill>
                <a:latin typeface="Arial"/>
                <a:ea typeface="Arial"/>
                <a:cs typeface="Arial"/>
                <a:sym typeface="Arial"/>
              </a:rPr>
              <a:t>EXPERIMENT — NOT SHIPPED</a:t>
            </a:r>
            <a:endParaRPr/>
          </a:p>
        </p:txBody>
      </p:sp>
      <p:sp>
        <p:nvSpPr>
          <p:cNvPr id="327" name="Google Shape;327;p21"/>
          <p:cNvSpPr/>
          <p:nvPr/>
        </p:nvSpPr>
        <p:spPr>
          <a:xfrm>
            <a:off x="502920" y="2587752"/>
            <a:ext cx="5458968" cy="2249424"/>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8" name="Google Shape;328;p21"/>
          <p:cNvSpPr txBox="1"/>
          <p:nvPr/>
        </p:nvSpPr>
        <p:spPr>
          <a:xfrm>
            <a:off x="722376" y="2816352"/>
            <a:ext cx="49377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8333E"/>
                </a:solidFill>
                <a:latin typeface="Arial"/>
                <a:ea typeface="Arial"/>
                <a:cs typeface="Arial"/>
                <a:sym typeface="Arial"/>
              </a:rPr>
              <a:t>Macro-F1  ↑</a:t>
            </a:r>
            <a:endParaRPr/>
          </a:p>
        </p:txBody>
      </p:sp>
      <p:sp>
        <p:nvSpPr>
          <p:cNvPr id="329" name="Google Shape;329;p21"/>
          <p:cNvSpPr txBox="1"/>
          <p:nvPr/>
        </p:nvSpPr>
        <p:spPr>
          <a:xfrm>
            <a:off x="731520" y="3410712"/>
            <a:ext cx="1828800" cy="56692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400" u="none" cap="none" strike="noStrike">
                <a:solidFill>
                  <a:srgbClr val="59717A"/>
                </a:solidFill>
                <a:latin typeface="Arial"/>
                <a:ea typeface="Arial"/>
                <a:cs typeface="Arial"/>
                <a:sym typeface="Arial"/>
              </a:rPr>
              <a:t>0.6333</a:t>
            </a:r>
            <a:endParaRPr/>
          </a:p>
        </p:txBody>
      </p:sp>
      <p:sp>
        <p:nvSpPr>
          <p:cNvPr id="330" name="Google Shape;330;p21"/>
          <p:cNvSpPr txBox="1"/>
          <p:nvPr/>
        </p:nvSpPr>
        <p:spPr>
          <a:xfrm>
            <a:off x="2706624" y="3438144"/>
            <a:ext cx="64008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07D78"/>
                </a:solidFill>
                <a:latin typeface="Arial"/>
                <a:ea typeface="Arial"/>
                <a:cs typeface="Arial"/>
                <a:sym typeface="Arial"/>
              </a:rPr>
              <a:t>→</a:t>
            </a:r>
            <a:endParaRPr/>
          </a:p>
        </p:txBody>
      </p:sp>
      <p:sp>
        <p:nvSpPr>
          <p:cNvPr id="331" name="Google Shape;331;p21"/>
          <p:cNvSpPr txBox="1"/>
          <p:nvPr/>
        </p:nvSpPr>
        <p:spPr>
          <a:xfrm>
            <a:off x="3465576" y="3410712"/>
            <a:ext cx="2194560" cy="56692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400" u="none" cap="none" strike="noStrike">
                <a:solidFill>
                  <a:srgbClr val="007D78"/>
                </a:solidFill>
                <a:latin typeface="Arial"/>
                <a:ea typeface="Arial"/>
                <a:cs typeface="Arial"/>
                <a:sym typeface="Arial"/>
              </a:rPr>
              <a:t>0.6768</a:t>
            </a:r>
            <a:endParaRPr/>
          </a:p>
        </p:txBody>
      </p:sp>
      <p:sp>
        <p:nvSpPr>
          <p:cNvPr id="332" name="Google Shape;332;p21"/>
          <p:cNvSpPr txBox="1"/>
          <p:nvPr/>
        </p:nvSpPr>
        <p:spPr>
          <a:xfrm>
            <a:off x="731520" y="4224528"/>
            <a:ext cx="2011680" cy="26517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59717A"/>
                </a:solidFill>
                <a:latin typeface="Arial"/>
                <a:ea typeface="Arial"/>
                <a:cs typeface="Arial"/>
                <a:sym typeface="Arial"/>
              </a:rPr>
              <a:t>Fixed 0.5 • shipped</a:t>
            </a:r>
            <a:endParaRPr/>
          </a:p>
        </p:txBody>
      </p:sp>
      <p:sp>
        <p:nvSpPr>
          <p:cNvPr id="333" name="Google Shape;333;p21"/>
          <p:cNvSpPr txBox="1"/>
          <p:nvPr/>
        </p:nvSpPr>
        <p:spPr>
          <a:xfrm>
            <a:off x="3465576" y="4224528"/>
            <a:ext cx="2212848" cy="26517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007D78"/>
                </a:solidFill>
                <a:latin typeface="Arial"/>
                <a:ea typeface="Arial"/>
                <a:cs typeface="Arial"/>
                <a:sym typeface="Arial"/>
              </a:rPr>
              <a:t>Held-out-company folds</a:t>
            </a:r>
            <a:endParaRPr/>
          </a:p>
        </p:txBody>
      </p:sp>
      <p:sp>
        <p:nvSpPr>
          <p:cNvPr id="334" name="Google Shape;334;p21"/>
          <p:cNvSpPr/>
          <p:nvPr/>
        </p:nvSpPr>
        <p:spPr>
          <a:xfrm>
            <a:off x="6190488" y="2587752"/>
            <a:ext cx="5458968" cy="2249424"/>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21"/>
          <p:cNvSpPr txBox="1"/>
          <p:nvPr/>
        </p:nvSpPr>
        <p:spPr>
          <a:xfrm>
            <a:off x="6409944" y="2816352"/>
            <a:ext cx="49377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8333E"/>
                </a:solidFill>
                <a:latin typeface="Arial"/>
                <a:ea typeface="Arial"/>
                <a:cs typeface="Arial"/>
                <a:sym typeface="Arial"/>
              </a:rPr>
              <a:t>Tags per 100 sentences  ↓</a:t>
            </a:r>
            <a:endParaRPr/>
          </a:p>
        </p:txBody>
      </p:sp>
      <p:sp>
        <p:nvSpPr>
          <p:cNvPr id="336" name="Google Shape;336;p21"/>
          <p:cNvSpPr txBox="1"/>
          <p:nvPr/>
        </p:nvSpPr>
        <p:spPr>
          <a:xfrm>
            <a:off x="6419088" y="3410712"/>
            <a:ext cx="1828800" cy="56692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400" u="none" cap="none" strike="noStrike">
                <a:solidFill>
                  <a:srgbClr val="59717A"/>
                </a:solidFill>
                <a:latin typeface="Arial"/>
                <a:ea typeface="Arial"/>
                <a:cs typeface="Arial"/>
                <a:sym typeface="Arial"/>
              </a:rPr>
              <a:t>17.5</a:t>
            </a:r>
            <a:endParaRPr/>
          </a:p>
        </p:txBody>
      </p:sp>
      <p:sp>
        <p:nvSpPr>
          <p:cNvPr id="337" name="Google Shape;337;p21"/>
          <p:cNvSpPr txBox="1"/>
          <p:nvPr/>
        </p:nvSpPr>
        <p:spPr>
          <a:xfrm>
            <a:off x="8394192" y="3438144"/>
            <a:ext cx="64008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07D78"/>
                </a:solidFill>
                <a:latin typeface="Arial"/>
                <a:ea typeface="Arial"/>
                <a:cs typeface="Arial"/>
                <a:sym typeface="Arial"/>
              </a:rPr>
              <a:t>→</a:t>
            </a:r>
            <a:endParaRPr/>
          </a:p>
        </p:txBody>
      </p:sp>
      <p:sp>
        <p:nvSpPr>
          <p:cNvPr id="338" name="Google Shape;338;p21"/>
          <p:cNvSpPr txBox="1"/>
          <p:nvPr/>
        </p:nvSpPr>
        <p:spPr>
          <a:xfrm>
            <a:off x="9153144" y="3410712"/>
            <a:ext cx="2194560" cy="56692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400" u="none" cap="none" strike="noStrike">
                <a:solidFill>
                  <a:srgbClr val="007D78"/>
                </a:solidFill>
                <a:latin typeface="Arial"/>
                <a:ea typeface="Arial"/>
                <a:cs typeface="Arial"/>
                <a:sym typeface="Arial"/>
              </a:rPr>
              <a:t>11.0</a:t>
            </a:r>
            <a:endParaRPr/>
          </a:p>
        </p:txBody>
      </p:sp>
      <p:sp>
        <p:nvSpPr>
          <p:cNvPr id="339" name="Google Shape;339;p21"/>
          <p:cNvSpPr txBox="1"/>
          <p:nvPr/>
        </p:nvSpPr>
        <p:spPr>
          <a:xfrm>
            <a:off x="6419088" y="4224528"/>
            <a:ext cx="2011680" cy="26517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59717A"/>
                </a:solidFill>
                <a:latin typeface="Arial"/>
                <a:ea typeface="Arial"/>
                <a:cs typeface="Arial"/>
                <a:sym typeface="Arial"/>
              </a:rPr>
              <a:t>Fixed 0.5 • shipped</a:t>
            </a:r>
            <a:endParaRPr/>
          </a:p>
        </p:txBody>
      </p:sp>
      <p:sp>
        <p:nvSpPr>
          <p:cNvPr id="340" name="Google Shape;340;p21"/>
          <p:cNvSpPr txBox="1"/>
          <p:nvPr/>
        </p:nvSpPr>
        <p:spPr>
          <a:xfrm>
            <a:off x="9153144" y="4224528"/>
            <a:ext cx="2212848" cy="26517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u="none" cap="none" strike="noStrike">
                <a:solidFill>
                  <a:srgbClr val="007D78"/>
                </a:solidFill>
                <a:latin typeface="Arial"/>
                <a:ea typeface="Arial"/>
                <a:cs typeface="Arial"/>
                <a:sym typeface="Arial"/>
              </a:rPr>
              <a:t>Held-out-company folds</a:t>
            </a:r>
            <a:endParaRPr/>
          </a:p>
        </p:txBody>
      </p:sp>
      <p:sp>
        <p:nvSpPr>
          <p:cNvPr id="341" name="Google Shape;341;p21"/>
          <p:cNvSpPr/>
          <p:nvPr/>
        </p:nvSpPr>
        <p:spPr>
          <a:xfrm>
            <a:off x="502920" y="5148072"/>
            <a:ext cx="11137392" cy="905256"/>
          </a:xfrm>
          <a:prstGeom prst="roundRect">
            <a:avLst>
              <a:gd fmla="val 12000" name="adj"/>
            </a:avLst>
          </a:prstGeom>
          <a:solidFill>
            <a:srgbClr val="132A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21"/>
          <p:cNvSpPr txBox="1"/>
          <p:nvPr/>
        </p:nvSpPr>
        <p:spPr>
          <a:xfrm>
            <a:off x="731520" y="5321808"/>
            <a:ext cx="10680192" cy="53949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FFFFFF"/>
                </a:solidFill>
                <a:latin typeface="Arial"/>
                <a:ea typeface="Arial"/>
                <a:cs typeface="Arial"/>
                <a:sym typeface="Arial"/>
              </a:rPr>
              <a:t>Next release: ship threshold parameters, rerun app tests, then repeat outside-user tasks.</a:t>
            </a:r>
            <a:endParaRPr/>
          </a:p>
          <a:p>
            <a:pPr indent="0" lvl="0" marL="0" marR="0" rtl="0" algn="l">
              <a:spcBef>
                <a:spcPts val="600"/>
              </a:spcBef>
              <a:spcAft>
                <a:spcPts val="0"/>
              </a:spcAft>
              <a:buNone/>
            </a:pPr>
            <a:r>
              <a:rPr b="0" i="0" lang="en-US" sz="1800" u="none" cap="none" strike="noStrike">
                <a:solidFill>
                  <a:srgbClr val="FFFFFF"/>
                </a:solidFill>
                <a:latin typeface="Arial"/>
                <a:ea typeface="Arial"/>
                <a:cs typeface="Arial"/>
                <a:sym typeface="Arial"/>
              </a:rPr>
              <a:t>Arbitration remains unstable; final test performance is still unknown.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3ED"/>
        </a:solidFill>
      </p:bgPr>
    </p:bg>
    <p:spTree>
      <p:nvGrpSpPr>
        <p:cNvPr id="347" name="Shape 347"/>
        <p:cNvGrpSpPr/>
        <p:nvPr/>
      </p:nvGrpSpPr>
      <p:grpSpPr>
        <a:xfrm>
          <a:off x="0" y="0"/>
          <a:ext cx="0" cy="0"/>
          <a:chOff x="0" y="0"/>
          <a:chExt cx="0" cy="0"/>
        </a:xfrm>
      </p:grpSpPr>
      <p:sp>
        <p:nvSpPr>
          <p:cNvPr id="348" name="Google Shape;348;p22"/>
          <p:cNvSpPr txBox="1"/>
          <p:nvPr/>
        </p:nvSpPr>
        <p:spPr>
          <a:xfrm>
            <a:off x="502920" y="265176"/>
            <a:ext cx="8229600" cy="21945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09 / PLAN TO DEMO DAY</a:t>
            </a:r>
            <a:endParaRPr/>
          </a:p>
        </p:txBody>
      </p:sp>
      <p:sp>
        <p:nvSpPr>
          <p:cNvPr id="349" name="Google Shape;349;p22"/>
          <p:cNvSpPr txBox="1"/>
          <p:nvPr/>
        </p:nvSpPr>
        <p:spPr>
          <a:xfrm>
            <a:off x="502920" y="713232"/>
            <a:ext cx="11155680" cy="5943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00" u="none" cap="none" strike="noStrike">
                <a:solidFill>
                  <a:srgbClr val="18333E"/>
                </a:solidFill>
                <a:latin typeface="Arial"/>
                <a:ea typeface="Arial"/>
                <a:cs typeface="Arial"/>
                <a:sym typeface="Arial"/>
              </a:rPr>
              <a:t>Persevere. Earn stronger evidence before claiming value.</a:t>
            </a:r>
            <a:endParaRPr/>
          </a:p>
        </p:txBody>
      </p:sp>
      <p:sp>
        <p:nvSpPr>
          <p:cNvPr id="350" name="Google Shape;350;p22"/>
          <p:cNvSpPr txBox="1"/>
          <p:nvPr/>
        </p:nvSpPr>
        <p:spPr>
          <a:xfrm>
            <a:off x="502920" y="1399032"/>
            <a:ext cx="110642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u="none" cap="none" strike="noStrike">
                <a:solidFill>
                  <a:srgbClr val="59717A"/>
                </a:solidFill>
                <a:latin typeface="Arial"/>
                <a:ea typeface="Arial"/>
                <a:cs typeface="Arial"/>
                <a:sym typeface="Arial"/>
              </a:rPr>
              <a:t>The pre-registered midpoint rule passes; it is a decision heuristic, not proof of usefulness.</a:t>
            </a:r>
            <a:endParaRPr/>
          </a:p>
        </p:txBody>
      </p:sp>
      <p:sp>
        <p:nvSpPr>
          <p:cNvPr id="351" name="Google Shape;351;p22"/>
          <p:cNvSpPr/>
          <p:nvPr/>
        </p:nvSpPr>
        <p:spPr>
          <a:xfrm>
            <a:off x="502920" y="6409944"/>
            <a:ext cx="11155680" cy="10972"/>
          </a:xfrm>
          <a:prstGeom prst="rect">
            <a:avLst/>
          </a:prstGeom>
          <a:solidFill>
            <a:srgbClr val="CAD4D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2" name="Google Shape;352;p22"/>
          <p:cNvSpPr txBox="1"/>
          <p:nvPr/>
        </p:nvSpPr>
        <p:spPr>
          <a:xfrm>
            <a:off x="502920" y="6528816"/>
            <a:ext cx="2743200" cy="1828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59717A"/>
                </a:solidFill>
                <a:latin typeface="Arial"/>
                <a:ea typeface="Arial"/>
                <a:cs typeface="Arial"/>
                <a:sym typeface="Arial"/>
              </a:rPr>
              <a:t>CLAUSEGUARD  /  MID-SEMESTER</a:t>
            </a:r>
            <a:endParaRPr/>
          </a:p>
        </p:txBody>
      </p:sp>
      <p:sp>
        <p:nvSpPr>
          <p:cNvPr id="353" name="Google Shape;353;p22"/>
          <p:cNvSpPr txBox="1"/>
          <p:nvPr/>
        </p:nvSpPr>
        <p:spPr>
          <a:xfrm>
            <a:off x="11292840" y="6501384"/>
            <a:ext cx="365760" cy="219456"/>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1000" u="none" cap="none" strike="noStrike">
                <a:solidFill>
                  <a:srgbClr val="59717A"/>
                </a:solidFill>
                <a:latin typeface="Arial"/>
                <a:ea typeface="Arial"/>
                <a:cs typeface="Arial"/>
                <a:sym typeface="Arial"/>
              </a:rPr>
              <a:t>10</a:t>
            </a:r>
            <a:endParaRPr/>
          </a:p>
        </p:txBody>
      </p:sp>
      <p:sp>
        <p:nvSpPr>
          <p:cNvPr id="354" name="Google Shape;354;p22"/>
          <p:cNvSpPr/>
          <p:nvPr/>
        </p:nvSpPr>
        <p:spPr>
          <a:xfrm>
            <a:off x="502920" y="2194560"/>
            <a:ext cx="2633472" cy="2148840"/>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5" name="Google Shape;355;p22"/>
          <p:cNvSpPr txBox="1"/>
          <p:nvPr/>
        </p:nvSpPr>
        <p:spPr>
          <a:xfrm>
            <a:off x="667512" y="2414016"/>
            <a:ext cx="22860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OCT 20 • S07</a:t>
            </a:r>
            <a:endParaRPr/>
          </a:p>
        </p:txBody>
      </p:sp>
      <p:sp>
        <p:nvSpPr>
          <p:cNvPr id="356" name="Google Shape;356;p22"/>
          <p:cNvSpPr txBox="1"/>
          <p:nvPr/>
        </p:nvSpPr>
        <p:spPr>
          <a:xfrm>
            <a:off x="667512" y="2880360"/>
            <a:ext cx="22860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8333E"/>
                </a:solidFill>
                <a:latin typeface="Arial"/>
                <a:ea typeface="Arial"/>
                <a:cs typeface="Arial"/>
                <a:sym typeface="Arial"/>
              </a:rPr>
              <a:t>Ship the fix</a:t>
            </a:r>
            <a:endParaRPr/>
          </a:p>
        </p:txBody>
      </p:sp>
      <p:sp>
        <p:nvSpPr>
          <p:cNvPr id="357" name="Google Shape;357;p22"/>
          <p:cNvSpPr txBox="1"/>
          <p:nvPr/>
        </p:nvSpPr>
        <p:spPr>
          <a:xfrm>
            <a:off x="667512" y="3547872"/>
            <a:ext cx="2286000" cy="72237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59717A"/>
                </a:solidFill>
                <a:latin typeface="Arial"/>
                <a:ea typeface="Arial"/>
                <a:cs typeface="Arial"/>
                <a:sym typeface="Arial"/>
              </a:rPr>
              <a:t>Per-category thresholds;</a:t>
            </a:r>
            <a:endParaRPr/>
          </a:p>
          <a:p>
            <a:pPr indent="0" lvl="0" marL="0" marR="0" rtl="0" algn="l">
              <a:spcBef>
                <a:spcPts val="600"/>
              </a:spcBef>
              <a:spcAft>
                <a:spcPts val="0"/>
              </a:spcAft>
              <a:buNone/>
            </a:pPr>
            <a:r>
              <a:rPr b="0" i="0" lang="en-US" sz="1500" u="none" cap="none" strike="noStrike">
                <a:solidFill>
                  <a:srgbClr val="59717A"/>
                </a:solidFill>
                <a:latin typeface="Arial"/>
                <a:ea typeface="Arial"/>
                <a:cs typeface="Arial"/>
                <a:sym typeface="Arial"/>
              </a:rPr>
              <a:t>heading-filter trial.</a:t>
            </a:r>
            <a:endParaRPr/>
          </a:p>
        </p:txBody>
      </p:sp>
      <p:sp>
        <p:nvSpPr>
          <p:cNvPr id="358" name="Google Shape;358;p22"/>
          <p:cNvSpPr/>
          <p:nvPr/>
        </p:nvSpPr>
        <p:spPr>
          <a:xfrm>
            <a:off x="3337560" y="2194560"/>
            <a:ext cx="2633472" cy="2148840"/>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9" name="Google Shape;359;p22"/>
          <p:cNvSpPr txBox="1"/>
          <p:nvPr/>
        </p:nvSpPr>
        <p:spPr>
          <a:xfrm>
            <a:off x="3502152" y="2414016"/>
            <a:ext cx="22860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OCT 27–NOV 3</a:t>
            </a:r>
            <a:endParaRPr/>
          </a:p>
        </p:txBody>
      </p:sp>
      <p:sp>
        <p:nvSpPr>
          <p:cNvPr id="360" name="Google Shape;360;p22"/>
          <p:cNvSpPr txBox="1"/>
          <p:nvPr/>
        </p:nvSpPr>
        <p:spPr>
          <a:xfrm>
            <a:off x="3502152" y="2880360"/>
            <a:ext cx="22860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8333E"/>
                </a:solidFill>
                <a:latin typeface="Arial"/>
                <a:ea typeface="Arial"/>
                <a:cs typeface="Arial"/>
                <a:sym typeface="Arial"/>
              </a:rPr>
              <a:t>Test understanding</a:t>
            </a:r>
            <a:endParaRPr/>
          </a:p>
        </p:txBody>
      </p:sp>
      <p:sp>
        <p:nvSpPr>
          <p:cNvPr id="361" name="Google Shape;361;p22"/>
          <p:cNvSpPr txBox="1"/>
          <p:nvPr/>
        </p:nvSpPr>
        <p:spPr>
          <a:xfrm>
            <a:off x="3502152" y="3547872"/>
            <a:ext cx="2286000" cy="72237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59717A"/>
                </a:solidFill>
                <a:latin typeface="Arial"/>
                <a:ea typeface="Arial"/>
                <a:cs typeface="Arial"/>
                <a:sym typeface="Arial"/>
              </a:rPr>
              <a:t>More outside users;</a:t>
            </a:r>
            <a:endParaRPr/>
          </a:p>
          <a:p>
            <a:pPr indent="0" lvl="0" marL="0" marR="0" rtl="0" algn="l">
              <a:spcBef>
                <a:spcPts val="600"/>
              </a:spcBef>
              <a:spcAft>
                <a:spcPts val="0"/>
              </a:spcAft>
              <a:buNone/>
            </a:pPr>
            <a:r>
              <a:rPr b="0" i="0" lang="en-US" sz="1500" u="none" cap="none" strike="noStrike">
                <a:solidFill>
                  <a:srgbClr val="59717A"/>
                </a:solidFill>
                <a:latin typeface="Arial"/>
                <a:ea typeface="Arial"/>
                <a:cs typeface="Arial"/>
                <a:sym typeface="Arial"/>
              </a:rPr>
              <a:t>“no flags” checks.</a:t>
            </a:r>
            <a:endParaRPr/>
          </a:p>
        </p:txBody>
      </p:sp>
      <p:sp>
        <p:nvSpPr>
          <p:cNvPr id="362" name="Google Shape;362;p22"/>
          <p:cNvSpPr/>
          <p:nvPr/>
        </p:nvSpPr>
        <p:spPr>
          <a:xfrm>
            <a:off x="6172200" y="2194560"/>
            <a:ext cx="2633472" cy="2148840"/>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3" name="Google Shape;363;p22"/>
          <p:cNvSpPr txBox="1"/>
          <p:nvPr/>
        </p:nvSpPr>
        <p:spPr>
          <a:xfrm>
            <a:off x="6336792" y="2414016"/>
            <a:ext cx="22860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NOV 10–24</a:t>
            </a:r>
            <a:endParaRPr/>
          </a:p>
        </p:txBody>
      </p:sp>
      <p:sp>
        <p:nvSpPr>
          <p:cNvPr id="364" name="Google Shape;364;p22"/>
          <p:cNvSpPr txBox="1"/>
          <p:nvPr/>
        </p:nvSpPr>
        <p:spPr>
          <a:xfrm>
            <a:off x="6336792" y="2880360"/>
            <a:ext cx="22860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8333E"/>
                </a:solidFill>
                <a:latin typeface="Arial"/>
                <a:ea typeface="Arial"/>
                <a:cs typeface="Arial"/>
                <a:sym typeface="Arial"/>
              </a:rPr>
              <a:t>Challenge + freeze</a:t>
            </a:r>
            <a:endParaRPr/>
          </a:p>
        </p:txBody>
      </p:sp>
      <p:sp>
        <p:nvSpPr>
          <p:cNvPr id="365" name="Google Shape;365;p22"/>
          <p:cNvSpPr txBox="1"/>
          <p:nvPr/>
        </p:nvSpPr>
        <p:spPr>
          <a:xfrm>
            <a:off x="6336792" y="3547872"/>
            <a:ext cx="2286000" cy="72237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59717A"/>
                </a:solidFill>
                <a:latin typeface="Arial"/>
                <a:ea typeface="Arial"/>
                <a:cs typeface="Arial"/>
                <a:sym typeface="Arial"/>
              </a:rPr>
              <a:t>Fresh-document checks;</a:t>
            </a:r>
            <a:endParaRPr/>
          </a:p>
          <a:p>
            <a:pPr indent="0" lvl="0" marL="0" marR="0" rtl="0" algn="l">
              <a:spcBef>
                <a:spcPts val="600"/>
              </a:spcBef>
              <a:spcAft>
                <a:spcPts val="0"/>
              </a:spcAft>
              <a:buNone/>
            </a:pPr>
            <a:r>
              <a:rPr b="0" i="0" lang="en-US" sz="1500" u="none" cap="none" strike="noStrike">
                <a:solidFill>
                  <a:srgbClr val="59717A"/>
                </a:solidFill>
                <a:latin typeface="Arial"/>
                <a:ea typeface="Arial"/>
                <a:cs typeface="Arial"/>
                <a:sym typeface="Arial"/>
              </a:rPr>
              <a:t>freeze + final test.</a:t>
            </a:r>
            <a:endParaRPr/>
          </a:p>
        </p:txBody>
      </p:sp>
      <p:sp>
        <p:nvSpPr>
          <p:cNvPr id="366" name="Google Shape;366;p22"/>
          <p:cNvSpPr/>
          <p:nvPr/>
        </p:nvSpPr>
        <p:spPr>
          <a:xfrm>
            <a:off x="9006840" y="2194560"/>
            <a:ext cx="2633472" cy="2148840"/>
          </a:xfrm>
          <a:prstGeom prst="roundRect">
            <a:avLst>
              <a:gd fmla="val 12000"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7" name="Google Shape;367;p22"/>
          <p:cNvSpPr txBox="1"/>
          <p:nvPr/>
        </p:nvSpPr>
        <p:spPr>
          <a:xfrm>
            <a:off x="9171432" y="2414016"/>
            <a:ext cx="22860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07D78"/>
                </a:solidFill>
                <a:latin typeface="Arial"/>
                <a:ea typeface="Arial"/>
                <a:cs typeface="Arial"/>
                <a:sym typeface="Arial"/>
              </a:rPr>
              <a:t>DEC 1 • 5 PM ET</a:t>
            </a:r>
            <a:endParaRPr/>
          </a:p>
        </p:txBody>
      </p:sp>
      <p:sp>
        <p:nvSpPr>
          <p:cNvPr id="368" name="Google Shape;368;p22"/>
          <p:cNvSpPr txBox="1"/>
          <p:nvPr/>
        </p:nvSpPr>
        <p:spPr>
          <a:xfrm>
            <a:off x="9171432" y="2880360"/>
            <a:ext cx="22860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18333E"/>
                </a:solidFill>
                <a:latin typeface="Arial"/>
                <a:ea typeface="Arial"/>
                <a:cs typeface="Arial"/>
                <a:sym typeface="Arial"/>
              </a:rPr>
              <a:t>Submit + demo</a:t>
            </a:r>
            <a:endParaRPr/>
          </a:p>
        </p:txBody>
      </p:sp>
      <p:sp>
        <p:nvSpPr>
          <p:cNvPr id="369" name="Google Shape;369;p22"/>
          <p:cNvSpPr txBox="1"/>
          <p:nvPr/>
        </p:nvSpPr>
        <p:spPr>
          <a:xfrm>
            <a:off x="9171432" y="3547872"/>
            <a:ext cx="2286000" cy="72237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59717A"/>
                </a:solidFill>
                <a:latin typeface="Arial"/>
                <a:ea typeface="Arial"/>
                <a:cs typeface="Arial"/>
                <a:sym typeface="Arial"/>
              </a:rPr>
              <a:t>Product, demo, report;</a:t>
            </a:r>
            <a:endParaRPr/>
          </a:p>
          <a:p>
            <a:pPr indent="0" lvl="0" marL="0" marR="0" rtl="0" algn="l">
              <a:spcBef>
                <a:spcPts val="600"/>
              </a:spcBef>
              <a:spcAft>
                <a:spcPts val="0"/>
              </a:spcAft>
              <a:buNone/>
            </a:pPr>
            <a:r>
              <a:rPr b="0" i="0" lang="en-US" sz="1500" u="none" cap="none" strike="noStrike">
                <a:solidFill>
                  <a:srgbClr val="59717A"/>
                </a:solidFill>
                <a:latin typeface="Arial"/>
                <a:ea typeface="Arial"/>
                <a:cs typeface="Arial"/>
                <a:sym typeface="Arial"/>
              </a:rPr>
              <a:t>slides in repository.</a:t>
            </a:r>
            <a:endParaRPr/>
          </a:p>
        </p:txBody>
      </p:sp>
      <p:sp>
        <p:nvSpPr>
          <p:cNvPr id="370" name="Google Shape;370;p22"/>
          <p:cNvSpPr/>
          <p:nvPr/>
        </p:nvSpPr>
        <p:spPr>
          <a:xfrm>
            <a:off x="502920" y="4498848"/>
            <a:ext cx="11137392" cy="795528"/>
          </a:xfrm>
          <a:prstGeom prst="roundRect">
            <a:avLst>
              <a:gd fmla="val 12000" name="adj"/>
            </a:avLst>
          </a:prstGeom>
          <a:solidFill>
            <a:srgbClr val="F5E1D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1" name="Google Shape;371;p22"/>
          <p:cNvSpPr txBox="1"/>
          <p:nvPr/>
        </p:nvSpPr>
        <p:spPr>
          <a:xfrm>
            <a:off x="722376" y="4663440"/>
            <a:ext cx="10680192" cy="53035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u="none" cap="none" strike="noStrike">
                <a:solidFill>
                  <a:srgbClr val="C75D42"/>
                </a:solidFill>
                <a:latin typeface="Arial"/>
                <a:ea typeface="Arial"/>
                <a:cs typeface="Arial"/>
                <a:sym typeface="Arial"/>
              </a:rPr>
              <a:t>What could change the plan: worse task success or misleading tags → change the interface or job;</a:t>
            </a:r>
            <a:endParaRPr/>
          </a:p>
          <a:p>
            <a:pPr indent="0" lvl="0" marL="0" marR="0" rtl="0" algn="l">
              <a:spcBef>
                <a:spcPts val="600"/>
              </a:spcBef>
              <a:spcAft>
                <a:spcPts val="0"/>
              </a:spcAft>
              <a:buNone/>
            </a:pPr>
            <a:r>
              <a:rPr b="1" i="0" lang="en-US" sz="1600" u="none" cap="none" strike="noStrike">
                <a:solidFill>
                  <a:srgbClr val="C75D42"/>
                </a:solidFill>
                <a:latin typeface="Arial"/>
                <a:ea typeface="Arial"/>
                <a:cs typeface="Arial"/>
                <a:sym typeface="Arial"/>
              </a:rPr>
              <a:t>a failed model gate or &gt;25-point success deficit → consider a pivot.</a:t>
            </a:r>
            <a:endParaRPr/>
          </a:p>
        </p:txBody>
      </p:sp>
      <p:sp>
        <p:nvSpPr>
          <p:cNvPr id="372" name="Google Shape;372;p22"/>
          <p:cNvSpPr txBox="1"/>
          <p:nvPr/>
        </p:nvSpPr>
        <p:spPr>
          <a:xfrm>
            <a:off x="502920" y="5522976"/>
            <a:ext cx="9006840"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800" u="none" cap="none" strike="noStrike">
                <a:solidFill>
                  <a:srgbClr val="007D78"/>
                </a:solidFill>
                <a:latin typeface="Arial"/>
                <a:ea typeface="Arial"/>
                <a:cs typeface="Arial"/>
                <a:sym typeface="Arial"/>
              </a:rPr>
              <a:t>Find the clause. Verify the words.</a:t>
            </a:r>
            <a:endParaRPr/>
          </a:p>
        </p:txBody>
      </p:sp>
      <p:sp>
        <p:nvSpPr>
          <p:cNvPr id="373" name="Google Shape;373;p22"/>
          <p:cNvSpPr txBox="1"/>
          <p:nvPr/>
        </p:nvSpPr>
        <p:spPr>
          <a:xfrm>
            <a:off x="9665208" y="5586984"/>
            <a:ext cx="1920240" cy="3657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i="0" lang="en-US" sz="2100" u="none" cap="none" strike="noStrike">
                <a:solidFill>
                  <a:srgbClr val="18333E"/>
                </a:solidFill>
                <a:latin typeface="Arial"/>
                <a:ea typeface="Arial"/>
                <a:cs typeface="Arial"/>
                <a:sym typeface="Arial"/>
              </a:rPr>
              <a:t>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